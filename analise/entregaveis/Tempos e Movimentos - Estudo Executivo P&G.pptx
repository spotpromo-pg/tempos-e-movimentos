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36506140014d4b" /><Relationship Type="http://schemas.openxmlformats.org/officeDocument/2006/relationships/extended-properties" Target="/docProps/app.xml" Id="R2ddafcb042744b97" /><Relationship Type="http://schemas.openxmlformats.org/officeDocument/2006/relationships/officeDocument" Target="/ppt/presentation.xml" Id="R92df19ebed634c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d045690d494977"/>
  </p:sldMasterIdLst>
  <p:notesMasterIdLst>
    <p:notesMasterId xmlns:r="http://schemas.openxmlformats.org/officeDocument/2006/relationships" r:id="R50a5a4ea447e40d4"/>
  </p:notesMasterIdLst>
  <p:sldIdLst>
    <p:sldId xmlns:r="http://schemas.openxmlformats.org/officeDocument/2006/relationships" id="256" r:id="Rdfe2e396c1f34aac"/>
    <p:sldId xmlns:r="http://schemas.openxmlformats.org/officeDocument/2006/relationships" id="257" r:id="R230243693f914ebe"/>
    <p:sldId xmlns:r="http://schemas.openxmlformats.org/officeDocument/2006/relationships" id="258" r:id="Rfe93a6a4f91c4081"/>
    <p:sldId xmlns:r="http://schemas.openxmlformats.org/officeDocument/2006/relationships" id="259" r:id="R1cb98538eac64604"/>
    <p:sldId xmlns:r="http://schemas.openxmlformats.org/officeDocument/2006/relationships" id="260" r:id="Rc0a1dea771d94409"/>
    <p:sldId xmlns:r="http://schemas.openxmlformats.org/officeDocument/2006/relationships" id="261" r:id="R1d41814fc2d94b96"/>
    <p:sldId xmlns:r="http://schemas.openxmlformats.org/officeDocument/2006/relationships" id="262" r:id="R1278eeb2ecff478c"/>
    <p:sldId xmlns:r="http://schemas.openxmlformats.org/officeDocument/2006/relationships" id="263" r:id="Refb2ad811f2249d8"/>
    <p:sldId xmlns:r="http://schemas.openxmlformats.org/officeDocument/2006/relationships" id="264" r:id="R1490a4c364174e88"/>
    <p:sldId xmlns:r="http://schemas.openxmlformats.org/officeDocument/2006/relationships" id="265" r:id="R42563e5eb1b747a6"/>
    <p:sldId xmlns:r="http://schemas.openxmlformats.org/officeDocument/2006/relationships" id="266" r:id="Rac27ceef26f44060"/>
    <p:sldId xmlns:r="http://schemas.openxmlformats.org/officeDocument/2006/relationships" id="267" r:id="Rab35220ec24140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39113dc2b84e88" /><Relationship Type="http://schemas.openxmlformats.org/officeDocument/2006/relationships/slideMaster" Target="/ppt/slideMasters/slideMaster1.xml" Id="R74d045690d494977" /><Relationship Type="http://schemas.openxmlformats.org/officeDocument/2006/relationships/notesMaster" Target="/ppt/notesMasters/notesMaster1.xml" Id="R50a5a4ea447e40d4" /><Relationship Type="http://schemas.openxmlformats.org/officeDocument/2006/relationships/presProps" Target="/ppt/presProps.xml" Id="R8ff4f2635116426f" /><Relationship Type="http://schemas.openxmlformats.org/officeDocument/2006/relationships/tableStyles" Target="/ppt/tableStyles.xml" Id="Re405d86e4f7e41d6" /><Relationship Type="http://schemas.openxmlformats.org/officeDocument/2006/relationships/slide" Target="/ppt/slides/slide1.xml" Id="Rdfe2e396c1f34aac" /><Relationship Type="http://schemas.openxmlformats.org/officeDocument/2006/relationships/slide" Target="/ppt/slides/slide2.xml" Id="R230243693f914ebe" /><Relationship Type="http://schemas.openxmlformats.org/officeDocument/2006/relationships/slide" Target="/ppt/slides/slide3.xml" Id="Rfe93a6a4f91c4081" /><Relationship Type="http://schemas.openxmlformats.org/officeDocument/2006/relationships/slide" Target="/ppt/slides/slide4.xml" Id="R1cb98538eac64604" /><Relationship Type="http://schemas.openxmlformats.org/officeDocument/2006/relationships/slide" Target="/ppt/slides/slide5.xml" Id="Rc0a1dea771d94409" /><Relationship Type="http://schemas.openxmlformats.org/officeDocument/2006/relationships/slide" Target="/ppt/slides/slide6.xml" Id="R1d41814fc2d94b96" /><Relationship Type="http://schemas.openxmlformats.org/officeDocument/2006/relationships/slide" Target="/ppt/slides/slide7.xml" Id="R1278eeb2ecff478c" /><Relationship Type="http://schemas.openxmlformats.org/officeDocument/2006/relationships/slide" Target="/ppt/slides/slide8.xml" Id="Refb2ad811f2249d8" /><Relationship Type="http://schemas.openxmlformats.org/officeDocument/2006/relationships/slide" Target="/ppt/slides/slide9.xml" Id="R1490a4c364174e88" /><Relationship Type="http://schemas.openxmlformats.org/officeDocument/2006/relationships/slide" Target="/ppt/slides/slide10.xml" Id="R42563e5eb1b747a6" /><Relationship Type="http://schemas.openxmlformats.org/officeDocument/2006/relationships/slide" Target="/ppt/slides/slide11.xml" Id="Rac27ceef26f44060" /><Relationship Type="http://schemas.openxmlformats.org/officeDocument/2006/relationships/slide" Target="/ppt/slides/slide12.xml" Id="Rab35220ec24140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e6c711feaa4a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f0516648b3492e" /><Relationship Type="http://schemas.openxmlformats.org/officeDocument/2006/relationships/notesMaster" Target="/ppt/notesMasters/notesMaster1.xml" Id="Rc6bc9af0108b46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ae25c28dbc46bc" /><Relationship Type="http://schemas.openxmlformats.org/officeDocument/2006/relationships/notesMaster" Target="/ppt/notesMasters/notesMaster1.xml" Id="R08cf69f23ddf46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6cb87bd0994df1" /><Relationship Type="http://schemas.openxmlformats.org/officeDocument/2006/relationships/notesMaster" Target="/ppt/notesMasters/notesMaster1.xml" Id="R373403f379b847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0873bd58df4d68" /><Relationship Type="http://schemas.openxmlformats.org/officeDocument/2006/relationships/notesMaster" Target="/ppt/notesMasters/notesMaster1.xml" Id="Rc3a00b91798f4d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e5b3b4ddfb4710" /><Relationship Type="http://schemas.openxmlformats.org/officeDocument/2006/relationships/notesMaster" Target="/ppt/notesMasters/notesMaster1.xml" Id="Rb2d3e52d244945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2daf77d09c4549" /><Relationship Type="http://schemas.openxmlformats.org/officeDocument/2006/relationships/notesMaster" Target="/ppt/notesMasters/notesMaster1.xml" Id="R437706cf9cff48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741e07d77f4959" /><Relationship Type="http://schemas.openxmlformats.org/officeDocument/2006/relationships/notesMaster" Target="/ppt/notesMasters/notesMaster1.xml" Id="R38d56ab6359141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0e886d9e324614" /><Relationship Type="http://schemas.openxmlformats.org/officeDocument/2006/relationships/notesMaster" Target="/ppt/notesMasters/notesMaster1.xml" Id="R1c4159fa476647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a24bc8da774347" /><Relationship Type="http://schemas.openxmlformats.org/officeDocument/2006/relationships/notesMaster" Target="/ppt/notesMasters/notesMaster1.xml" Id="R8c27c7ec5fdb4f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5ccdfd06d84c47" /><Relationship Type="http://schemas.openxmlformats.org/officeDocument/2006/relationships/notesMaster" Target="/ppt/notesMasters/notesMaster1.xml" Id="Rc433533f079b4c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9c05ea49f34572" /><Relationship Type="http://schemas.openxmlformats.org/officeDocument/2006/relationships/notesMaster" Target="/ppt/notesMasters/notesMaster1.xml" Id="R3aaecb9968dc44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31c9f012ca440f" /><Relationship Type="http://schemas.openxmlformats.org/officeDocument/2006/relationships/notesMaster" Target="/ppt/notesMasters/notesMaster1.xml" Id="R3075250763c645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Pesquisa SPOT de Tempos e Movimentos: dossie.html e analise/saida/dossie_min.json. Coleta 11–18 ago. 2026.</a:t>
            </a:r>
          </a:p>
          <a:p xmlns:a="http://schemas.openxmlformats.org/drawingml/2006/main">
            <a:r>
              <a:t>Manual de Identidade Visual SPOT V10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Pesquisa SPOT de Tempos e Movimentos: dossie.html e analise/saida/dossie_min.json. Coleta 11–18 ago. 2026.</a:t>
            </a:r>
          </a:p>
          <a:p xmlns:a="http://schemas.openxmlformats.org/drawingml/2006/main">
            <a:r>
              <a:t>Manual de Identidade Visual SPOT V10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Pesquisa SPOT de Tempos e Movimentos: dossie.html e analise/saida/dossie_min.json. Coleta 11–18 ago. 2026.</a:t>
            </a:r>
          </a:p>
          <a:p xmlns:a="http://schemas.openxmlformats.org/drawingml/2006/main">
            <a:r>
              <a:t>Manual de Identidade Visual SPOT V10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Pesquisa SPOT de Tempos e Movimentos: dossie.html e analise/saida/dossie_min.json. Coleta 11–18 ago. 2026.</a:t>
            </a:r>
          </a:p>
          <a:p xmlns:a="http://schemas.openxmlformats.org/drawingml/2006/main">
            <a:r>
              <a:t>Manual de Identidade Visual SPOT V10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Pesquisa SPOT de Tempos e Movimentos: dossie.html e analise/saida/dossie_min.json. Coleta 11–18 ago. 2026.</a:t>
            </a:r>
          </a:p>
          <a:p xmlns:a="http://schemas.openxmlformats.org/drawingml/2006/main">
            <a:r>
              <a:t>Manual de Identidade Visual SPOT V10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Pesquisa SPOT de Tempos e Movimentos: dossie.html e analise/saida/dossie_min.json. Coleta 11–18 ago. 2026.</a:t>
            </a:r>
          </a:p>
          <a:p xmlns:a="http://schemas.openxmlformats.org/drawingml/2006/main">
            <a:r>
              <a:t>Manual de Identidade Visual SPOT V10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Pesquisa SPOT de Tempos e Movimentos: dossie.html e analise/saida/dossie_min.json. Coleta 11–18 ago. 2026.</a:t>
            </a:r>
          </a:p>
          <a:p xmlns:a="http://schemas.openxmlformats.org/drawingml/2006/main">
            <a:r>
              <a:t>Manual de Identidade Visual SPOT V10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Pesquisa SPOT de Tempos e Movimentos: dossie.html e analise/saida/dossie_min.json. Coleta 11–18 ago. 2026.</a:t>
            </a:r>
          </a:p>
          <a:p xmlns:a="http://schemas.openxmlformats.org/drawingml/2006/main">
            <a:r>
              <a:t>Manual de Identidade Visual SPOT V10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Pesquisa SPOT de Tempos e Movimentos: dossie.html e analise/saida/dossie_min.json. Coleta 11–18 ago. 2026.</a:t>
            </a:r>
          </a:p>
          <a:p xmlns:a="http://schemas.openxmlformats.org/drawingml/2006/main">
            <a:r>
              <a:t>Manual de Identidade Visual SPOT V10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Pesquisa SPOT de Tempos e Movimentos: dossie.html e analise/saida/dossie_min.json. Coleta 11–18 ago. 2026.</a:t>
            </a:r>
          </a:p>
          <a:p xmlns:a="http://schemas.openxmlformats.org/drawingml/2006/main">
            <a:r>
              <a:t>Manual de Identidade Visual SPOT V10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Pesquisa SPOT de Tempos e Movimentos: dossie.html e analise/saida/dossie_min.json. Coleta 11–18 ago. 2026.</a:t>
            </a:r>
          </a:p>
          <a:p xmlns:a="http://schemas.openxmlformats.org/drawingml/2006/main">
            <a:r>
              <a:t>Manual de Identidade Visual SPOT V10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Pesquisa SPOT de Tempos e Movimentos: dossie.html e analise/saida/dossie_min.json. Coleta 11–18 ago. 2026.</a:t>
            </a:r>
          </a:p>
          <a:p xmlns:a="http://schemas.openxmlformats.org/drawingml/2006/main">
            <a:r>
              <a:t>Manual de Identidade Visual SPOT V10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b2b45ff0f84f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dbfcb0de294015" /><Relationship Type="http://schemas.openxmlformats.org/officeDocument/2006/relationships/slideLayout" Target="/ppt/slideLayouts/slideLayout1.xml" Id="R4c986ae4c8744b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986ae4c8744b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a2935a72049b3" /><Relationship Type="http://schemas.openxmlformats.org/officeDocument/2006/relationships/notesSlide" Target="/ppt/notesSlides/notesSlide1.xml" Id="Rda8ef3967e2249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c9a424c474c4d" /><Relationship Type="http://schemas.openxmlformats.org/officeDocument/2006/relationships/notesSlide" Target="/ppt/notesSlides/notesSlide2.xml" Id="R1e293aa9ee0a4d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3220a18924770" /><Relationship Type="http://schemas.openxmlformats.org/officeDocument/2006/relationships/notesSlide" Target="/ppt/notesSlides/notesSlide3.xml" Id="Rabfa04c664f24a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516468d614d7f" /><Relationship Type="http://schemas.openxmlformats.org/officeDocument/2006/relationships/notesSlide" Target="/ppt/notesSlides/notesSlide4.xml" Id="R814371ead5584e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7df694c0f4a4d" /><Relationship Type="http://schemas.openxmlformats.org/officeDocument/2006/relationships/notesSlide" Target="/ppt/notesSlides/notesSlide5.xml" Id="Rc802ec398aa342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5e5e090424319" /><Relationship Type="http://schemas.openxmlformats.org/officeDocument/2006/relationships/notesSlide" Target="/ppt/notesSlides/notesSlide6.xml" Id="Ra5a96f50a62244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11b5b72c543d8" /><Relationship Type="http://schemas.openxmlformats.org/officeDocument/2006/relationships/notesSlide" Target="/ppt/notesSlides/notesSlide7.xml" Id="Rd031b58db9e14f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44e7ee1484edf" /><Relationship Type="http://schemas.openxmlformats.org/officeDocument/2006/relationships/notesSlide" Target="/ppt/notesSlides/notesSlide8.xml" Id="R83486b70725b42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880de58f94ee4" /><Relationship Type="http://schemas.openxmlformats.org/officeDocument/2006/relationships/notesSlide" Target="/ppt/notesSlides/notesSlide9.xml" Id="Re322c21a60e643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c4d5445fc45c4" /><Relationship Type="http://schemas.openxmlformats.org/officeDocument/2006/relationships/notesSlide" Target="/ppt/notesSlides/notesSlide10.xml" Id="R2fef0d0c2ba24f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210849a8e40b6" /><Relationship Type="http://schemas.openxmlformats.org/officeDocument/2006/relationships/notesSlide" Target="/ppt/notesSlides/notesSlide11.xml" Id="Racf09e689ae34f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47388c5ce48ab" /><Relationship Type="http://schemas.openxmlformats.org/officeDocument/2006/relationships/notesSlide" Target="/ppt/notesSlides/notesSlide12.xml" Id="Rdc1e2db94ffc43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4AD5B-441C-477F-9B7F-19F29340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-1809750"/>
            <a:ext cx="6191250" cy="619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1E80B-49AC-4BF7-B625-F57D08AE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66675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0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7B352-611C-4492-A052-2BA820CE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66725"/>
            <a:ext cx="17335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15B9D-E571-474A-A8E3-7E188699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E0C2F"/>
                </a:solidFill>
              </a:defRPr>
            </a:pPr>
            <a:r>
              <a:rPr sz="1125" b="1">
                <a:solidFill>
                  <a:srgbClr val="DE0C2F"/>
                </a:solidFill>
              </a:rPr>
              <a:t>SPOT × P&amp;G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3FC0A-4DA7-421E-909D-0224D36E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28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42221"/>
                </a:solidFill>
              </a:defRPr>
            </a:pPr>
            <a:r>
              <a:rPr sz="3900" b="1">
                <a:solidFill>
                  <a:srgbClr val="242221"/>
                </a:solidFill>
              </a:rPr>
              <a:t>Pesquisa de</a:t>
            </a:r>
          </a:p>
          <a:p xmlns:a="http://schemas.openxmlformats.org/drawingml/2006/main">
            <a:pPr algn="l">
              <a:defRPr sz="3900" b="1">
                <a:solidFill>
                  <a:srgbClr val="242221"/>
                </a:solidFill>
              </a:defRPr>
            </a:pPr>
            <a:r>
              <a:rPr sz="3900" b="1">
                <a:solidFill>
                  <a:srgbClr val="242221"/>
                </a:solidFill>
              </a:rPr>
              <a:t>Tempos e Movimentos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4575C-B571-4E10-96FB-387ED160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362"/>
                </a:solidFill>
              </a:defRPr>
            </a:pPr>
            <a:r>
              <a:rPr sz="1650" b="0">
                <a:solidFill>
                  <a:srgbClr val="666362"/>
                </a:solidFill>
              </a:rPr>
              <a:t>Como os promotores SPOT utilizam o tempo dentro das lojas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0B988-AF94-4D5E-AD7B-9D60B8E6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95306-0A66-4392-ACDE-F7F8227D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2221"/>
                </a:solidFill>
              </a:defRPr>
            </a:pPr>
            <a:r>
              <a:rPr sz="1200" b="0">
                <a:solidFill>
                  <a:srgbClr val="242221"/>
                </a:solidFill>
              </a:rPr>
              <a:t>Trade Marketing P&amp;G</a:t>
            </a:r>
          </a:p>
          <a:p xmlns:a="http://schemas.openxmlformats.org/drawingml/2006/main">
            <a:pPr algn="l">
              <a:defRPr sz="1200" b="0">
                <a:solidFill>
                  <a:srgbClr val="242221"/>
                </a:solidFill>
              </a:defRPr>
            </a:pPr>
            <a:r>
              <a:rPr sz="1200" b="0">
                <a:solidFill>
                  <a:srgbClr val="242221"/>
                </a:solidFill>
              </a:rPr>
              <a:t>Coleta em campo: 11 a 18 de agosto de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48F7B-2E87-4DAF-BD37-7C339224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221"/>
                </a:solidFill>
              </a:defRPr>
            </a:pPr>
            <a:r>
              <a:rPr sz="1425" b="1">
                <a:solidFill>
                  <a:srgbClr val="242221"/>
                </a:solidFill>
              </a:rPr>
              <a:t>Pesquisa com promotores SPOT</a:t>
            </a:r>
          </a:p>
          <a:p xmlns:a="http://schemas.openxmlformats.org/drawingml/2006/main">
            <a:pPr algn="l">
              <a:defRPr sz="1425" b="1">
                <a:solidFill>
                  <a:srgbClr val="242221"/>
                </a:solidFill>
              </a:defRPr>
            </a:pPr>
            <a:r>
              <a:rPr sz="1425" b="1">
                <a:solidFill>
                  <a:srgbClr val="242221"/>
                </a:solidFill>
              </a:rPr>
              <a:t>para entender a composição do tempo por canal.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8A59F-ABC0-4AFE-B4FA-0DD11CC4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34CEB-3390-4272-90AE-871B458C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SPOT × P&amp;G  |  Pesquisa de tempos e movimentos em loja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C7AE5-097E-4E7E-9F9D-6472BC5B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E0C2F"/>
                </a:solidFill>
              </a:defRPr>
            </a:pPr>
            <a:r>
              <a:rPr sz="825" b="1">
                <a:solidFill>
                  <a:srgbClr val="DE0C2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84374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5530AF-51A0-4E22-A8F8-FC90AF69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0C2F"/>
                </a:solidFill>
              </a:defRPr>
            </a:pPr>
            <a:r>
              <a:rPr sz="900" b="1">
                <a:solidFill>
                  <a:srgbClr val="DE0C2F"/>
                </a:solidFill>
              </a:rPr>
              <a:t>SUMÁRIO EXECUTIVO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13C41-81DB-41A1-B832-7B314FD6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221"/>
                </a:solidFill>
              </a:defRPr>
            </a:pPr>
            <a:r>
              <a:rPr sz="2325" b="1">
                <a:solidFill>
                  <a:srgbClr val="242221"/>
                </a:solidFill>
              </a:rPr>
              <a:t>Tempos em loja: fotografia da pesquisa com promotores SPOT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A80D6-9F56-42FF-BE92-66DDBC6B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362"/>
                </a:solidFill>
              </a:defRPr>
            </a:pPr>
            <a:r>
              <a:rPr sz="1200" b="0">
                <a:solidFill>
                  <a:srgbClr val="666362"/>
                </a:solidFill>
              </a:rPr>
              <a:t>O estudo descreve o tempo registrado dentro das lojas e sua composição por atividade.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A18C0-0096-4F58-8788-D37F87F2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85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36CFF-D68E-4946-BA5B-FC6F0895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33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08EC0-BD17-4228-A55A-92C70E10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221"/>
                </a:solidFill>
              </a:defRPr>
            </a:pPr>
            <a:r>
              <a:rPr sz="2700" b="1">
                <a:solidFill>
                  <a:srgbClr val="242221"/>
                </a:solidFill>
              </a:rPr>
              <a:t>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67D56-E003-4380-8CF2-FDEE1A13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visitas analisadas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07CA8-53E3-4D9D-8971-30E4F366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221"/>
                </a:solidFill>
              </a:defRPr>
            </a:pPr>
            <a:r>
              <a:rPr sz="2700" b="1">
                <a:solidFill>
                  <a:srgbClr val="242221"/>
                </a:solidFill>
              </a:rPr>
              <a:t>69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2CE23-E699-462B-98DC-B9954FFC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431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lojas únicas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145DD-B1B5-4277-A753-4B127FCE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478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E0C2F"/>
                </a:solidFill>
              </a:defRPr>
            </a:pPr>
            <a:r>
              <a:rPr sz="2700" b="1">
                <a:solidFill>
                  <a:srgbClr val="DE0C2F"/>
                </a:solidFill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1077F-B524-4B6C-86A1-E236A716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431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canais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C7C18-FAB1-4733-8FD2-D863E1BC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478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221"/>
                </a:solidFill>
              </a:defRPr>
            </a:pPr>
            <a:r>
              <a:rPr sz="2700" b="1">
                <a:solidFill>
                  <a:srgbClr val="242221"/>
                </a:solidFill>
              </a:rPr>
              <a:t>11–18 ago.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0C8C4D-9124-431C-9EF0-2015DC14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431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período de coleta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24D08-C8B1-4163-A5D8-06EC1D05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08204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2F0B9-5502-420A-8B23-793BAF1C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221"/>
                </a:solidFill>
              </a:defRPr>
            </a:pPr>
            <a:r>
              <a:rPr sz="1575" b="1">
                <a:solidFill>
                  <a:srgbClr val="242221"/>
                </a:solidFill>
              </a:rPr>
              <a:t>Como ler os resultados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87794-499D-4D81-8801-7FF22DA0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43375"/>
            <a:ext cx="9525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2221"/>
                </a:solidFill>
              </a:defRPr>
            </a:pPr>
            <a:r>
              <a:rPr sz="1200" b="0">
                <a:solidFill>
                  <a:srgbClr val="242221"/>
                </a:solidFill>
              </a:rPr>
              <a:t>• As atividades simultâneas foram alocadas minuto a minuto, evitando dupla contagem.</a:t>
            </a:r>
          </a:p>
          <a:p xmlns:a="http://schemas.openxmlformats.org/drawingml/2006/main">
            <a:pPr algn="l">
              <a:defRPr sz="1200" b="0">
                <a:solidFill>
                  <a:srgbClr val="242221"/>
                </a:solidFill>
              </a:defRPr>
            </a:pPr>
            <a:r>
              <a:rPr sz="1200" b="0">
                <a:solidFill>
                  <a:srgbClr val="242221"/>
                </a:solidFill>
              </a:rPr>
              <a:t>• A ficha de cada canal traz: duração média da visita, rota declarada, composição dos blocos, projeção em 8h e os seis movimentos de maior peso.</a:t>
            </a:r>
          </a:p>
          <a:p xmlns:a="http://schemas.openxmlformats.org/drawingml/2006/main">
            <a:pPr algn="l">
              <a:defRPr sz="1200" b="0">
                <a:solidFill>
                  <a:srgbClr val="242221"/>
                </a:solidFill>
              </a:defRPr>
            </a:pPr>
            <a:r>
              <a:rPr sz="1200" b="0">
                <a:solidFill>
                  <a:srgbClr val="242221"/>
                </a:solidFill>
              </a:rPr>
              <a:t>• A projeção de 8h é uma referência aritmética e não deve ser usada como meta de produtividade.</a:t>
            </a:r>
          </a:p>
          <a:p xmlns:a="http://schemas.openxmlformats.org/drawingml/2006/main">
            <a:pPr algn="l">
              <a:defRPr sz="1200" b="0">
                <a:solidFill>
                  <a:srgbClr val="242221"/>
                </a:solidFill>
              </a:defRPr>
            </a:pPr>
            <a:r>
              <a:rPr sz="1200" b="0">
                <a:solidFill>
                  <a:srgbClr val="242221"/>
                </a:solidFill>
              </a:rPr>
              <a:t>• Os canais com menor número de visitas devem ser interpretados com cautela.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7AED6D-08D0-43A4-8FA0-F52FFB18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26131-705C-4059-A28D-1A297BED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SPOT × P&amp;G  |  Pesquisa de tempos e movimentos em loja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1F606B-2912-419A-A08C-48DBF335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E0C2F"/>
                </a:solidFill>
              </a:defRPr>
            </a:pPr>
            <a:r>
              <a:rPr sz="825" b="1">
                <a:solidFill>
                  <a:srgbClr val="DE0C2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906224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5C1094F-2EF3-4C8D-A178-DEC79031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0C2F"/>
                </a:solidFill>
              </a:defRPr>
            </a:pPr>
            <a:r>
              <a:rPr sz="900" b="1">
                <a:solidFill>
                  <a:srgbClr val="DE0C2F"/>
                </a:solidFill>
              </a:rPr>
              <a:t>RESULTADOS POR CANAL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9BBA4-7A41-4BC3-B2B9-5FACCA02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221"/>
                </a:solidFill>
              </a:defRPr>
            </a:pPr>
            <a:r>
              <a:rPr sz="2325" b="1">
                <a:solidFill>
                  <a:srgbClr val="242221"/>
                </a:solidFill>
              </a:rPr>
              <a:t>DPP | ficha completa de tempos e movimentos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ED210-99BC-48D0-A841-8408A556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362"/>
                </a:solidFill>
              </a:defRPr>
            </a:pPr>
            <a:r>
              <a:rPr sz="1200" b="0">
                <a:solidFill>
                  <a:srgbClr val="666362"/>
                </a:solidFill>
              </a:rPr>
              <a:t>Todos os dados abaixo reproduzem a ficha do canal no dossiê.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F553F-78F4-45F8-9A1B-4E174945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85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40FD7-EC76-47FE-BAB5-3C5AB802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33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D2CD3-04B3-4F01-9E9B-9CB535F6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E5308-B344-4AB5-9EDB-E207125A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221"/>
                </a:solidFill>
              </a:defRPr>
            </a:pPr>
            <a:r>
              <a:rPr sz="1725" b="1">
                <a:solidFill>
                  <a:srgbClr val="242221"/>
                </a:solidFill>
              </a:rPr>
              <a:t>DPP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23775-AB57-42D4-AAC0-60372289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26 visitas | 9 promotores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E8B2E-D7C8-49BD-8880-7E87538A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221"/>
                </a:solidFill>
              </a:defRPr>
            </a:pPr>
            <a:r>
              <a:rPr sz="2700" b="1">
                <a:solidFill>
                  <a:srgbClr val="242221"/>
                </a:solidFill>
              </a:rPr>
              <a:t>2h07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E799F-2975-42B9-8983-ADF631F9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tempo médio por loja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3B71A-467B-4A98-899F-835B3D76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E0C2F"/>
                </a:solidFill>
              </a:defRPr>
            </a:pPr>
            <a:r>
              <a:rPr sz="2700" b="1">
                <a:solidFill>
                  <a:srgbClr val="DE0C2F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13A3B-12CF-429C-A93A-3ED30A5F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loja(s) por dia na rota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3DED5-4A9E-4290-85BD-C03743E3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221"/>
                </a:solidFill>
              </a:defRPr>
            </a:pPr>
            <a:r>
              <a:rPr sz="2700" b="1">
                <a:solidFill>
                  <a:srgbClr val="242221"/>
                </a:solidFill>
              </a:rPr>
              <a:t>3,8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933B4-9347-4172-9E4A-C3AB8B2D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projeção aritmética em 8h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C5585-A1F5-4E72-A817-0BAC5E8D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362"/>
                </a:solidFill>
              </a:defRPr>
            </a:pPr>
            <a:r>
              <a:rPr sz="1050" b="1">
                <a:solidFill>
                  <a:srgbClr val="666362"/>
                </a:solidFill>
              </a:rPr>
              <a:t>Composição do tempo em uma loja | 2h07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782E2-5E1F-4C89-94FC-D01EE423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2215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9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3B413-B114-42EB-80C8-3E7859CB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000" y="2981325"/>
            <a:ext cx="102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A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9B061-7F36-4837-83DB-FE4C1A6E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400" y="2981325"/>
            <a:ext cx="51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A32DE-325D-45B2-9197-B3B2182A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600" y="2981325"/>
            <a:ext cx="59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0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F17EC-98FF-4A03-9049-534B034B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1000" y="2981325"/>
            <a:ext cx="238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4B26BF-0A1C-435A-BEF0-7903BD06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600" y="2981325"/>
            <a:ext cx="110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B24B2C-EE78-4951-BF30-6A852059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200" y="2981325"/>
            <a:ext cx="272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E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9DA8CC-8739-48AD-BE09-4003ED61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600" y="2981325"/>
            <a:ext cx="25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8025A5-21B4-4B7A-9D32-3A8A4141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89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EFCA9C-CAC1-4292-BD47-7B875377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147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Entrada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D63E0F-3E59-4447-8AAE-1914752C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A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3ED6C5-393B-4491-AEE9-E3BEF143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147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Abertura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8F6DCC-E5FB-4F7E-A3E0-0A902A2D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6ABC0C-B259-499F-88DD-7B9BF085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147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Estoque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526AAB-4AB4-4A42-92CA-461784B7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0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0D7DFE-030B-451B-8F1C-7A8FBCD9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14700"/>
            <a:ext cx="714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Check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8E49FC-C684-4B4E-8EFD-01EC7FC2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BB7CC6-4922-4AF2-AB89-36614314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F42AD0-8840-4BBD-A1C0-D9647B65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77117A-217E-4580-A998-C06E1138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1470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Ponto Extra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3BD040-74C6-4DFE-A1A0-F6C6581D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E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E0DF5F-4A07-4D52-A356-F84B33D3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147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Outras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FB2197-A376-469A-B038-854BD79B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4BE56C-2745-4BF3-A6FC-B30C79FC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147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Saída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B8A3C4-BAC6-4738-92E7-6F94E321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1908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BFE55D-90BA-49BB-BED6-122AD4F6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Tempo por bloco - por loja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3B8867-49C2-4597-AA8D-F3864A1B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5849C6-402A-4FB4-80BD-9CE13BB3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Entrada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227112-5A90-4588-8B19-87B48C57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52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26 min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125737-EC0A-4A35-8BEA-15696539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Abertura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F2A6D4-6E09-4A6F-BF8A-C7056CAC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81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12 min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9EB95C-1EE0-4C13-A76B-209E50CF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E5C244-5AED-4D62-BD90-D680F4B7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Estoque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AA3E08-E0BB-457B-9D0B-2E5C8964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10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6 min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14579C-E344-48C5-94FE-BB3C7702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Check Out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204189-296D-4098-BB17-12A4020C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387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7 min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95D21D-0776-4148-A3B3-EA006176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1A4472-28EF-4FE0-84D9-2C3FA6A3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Natural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B182C7-E0E5-4B40-984C-60A9D0FE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673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28 min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C50E77-F9AF-4B86-A9CC-1EC1C1C1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Extra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AE8477-DA8C-45D8-B21C-23AD202E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95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13 min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B6BB939-BC5D-41B7-B9AC-D5D1C890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17B119D-ED28-4516-819A-B05ED76D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Outras Atividades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4286935-1E99-404F-93B2-01D11C4F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524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32 min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869138D-6B58-4FE1-B8AA-8DC8C65C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53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Saída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E59B42B-7D65-4D54-A4F4-18EBB5A0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753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 min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8D14EDE-1ED9-4CD9-85E5-CDDA8168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67125"/>
            <a:ext cx="31908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A1898D-F817-4767-8F10-EF06549E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481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Jornada de 8h projetada | 3,8 lojas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027DB20-CB22-48A9-814A-7C70434C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E805C4F-7A31-464E-B781-94B30489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52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Entrada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73B9D5F-5A8E-4DF4-984F-41429C44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1h37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353A909-9EC1-4D94-9722-93808306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81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Abertura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A1F1D4B-1D1C-47EC-BD1C-528C1ECE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46 min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83FB57C-0454-4477-AF8B-E0408ADA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720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26E446A-E669-4476-92E7-4E8AFFBF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10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Estoque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133F5FB-930A-4011-AC9E-B74DCA2D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0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23 min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18B8B9-867F-4C54-A2CF-D3DCC69B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387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Check Out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9EFF64C-A0DE-4F86-ADC4-C6AEA00C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87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28 min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0A73575-084A-4503-B1E0-DCD96780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292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F883D37-045C-460D-A73C-91C19569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673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Natural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72BEC86-EEC3-49B5-9C91-97866970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1h47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8C09EC3-2895-48C4-AD1D-172DE6ED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95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Extra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DC8A1E6-5F88-4EE7-AAB4-083A734C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49 min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1B8F2C9-030D-4AAB-A670-D18D0BF9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F7523EE-709C-46F8-A574-E642CD46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24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Outras Atividades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6A2A18F-7073-4878-9BA9-029CD68B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2h00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2A6CDE7-9A33-4F8A-815D-05DDBA5A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53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Saída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1B78F94-A7F1-4FAC-9E1F-8FD96532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53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11 min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EE3DEC4-08CF-40DF-AB0D-73A27816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67125"/>
            <a:ext cx="4000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6A813D1-2AAA-4E68-A19A-9B1D0D35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48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Movimentos mais caros por loja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D9D708C-F02A-4B38-862E-B67C2E0F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0527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Abastecimento e organização (Layout/KBDs etc)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B0A9386-8FA6-4916-B7C5-422BCEC4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580D7B7-3D78-4356-8E7D-CF79ADCB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433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16 min | 12,7%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006D1C1-CF15-41CF-962B-31ECC505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4A3DBEA-E00E-4F37-9A58-833664E4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9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Leitura de loja (checklist / auditoria)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3AF3750-2DB3-4D50-B6BE-62BCA46B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Outras Atividades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30C918A-8A37-4B4B-BF5D-21D632DA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4577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15 min | 11,6%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0ADB1AC-BB0D-4090-8B6C-30A1699A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95825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3FAE37A-C994-45F8-BA18-5B2F716C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3392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Deslocamento interno dentro da loja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BB0DF3D-F2B0-48D5-BB23-011F8191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7680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Outras Atividades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4D971D2-2FEE-43DF-A1C3-D09C4A0B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7202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15 min | 11,5%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F3E5C29-E18A-4823-9B49-D6B2AFE5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101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6EEF9D2-7EAA-431C-9863-A2BE89B4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482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Chegada à loja (portaria/entrada)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197FC6F-2205-4233-AC21-681903B0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9112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Entrada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7CF7E71-B010-4D93-B8BF-7272D9C1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0863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12 min | 9,5%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720EBA7-ADEE-4B41-94BD-0FABBC5D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24475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3B7A6D8-2767-43CA-BC8C-DD3387A5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6257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Registro de entrada (app / sistema do cliente)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A7A5960-BDF7-434D-8131-F56F5729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0545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Entrada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3388128-CA92-4C4A-B32B-84202744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006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6 min | 4,6%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9063841-0BA1-47FA-8BFD-9927A3B3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388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D1FFBB5-60D4-4934-A0A4-45AA2774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769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Passar por todas as categorias puxando frentes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249C849-753A-4F44-A37E-72291D3C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1977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Abertura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F292605-76F6-4841-A244-CD1A65B0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7150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6 min | 4,5%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A4CFC0C-0BF7-40C2-8A74-4E1F7CCA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Projeção em 8h = 480 min ÷ tempo médio por loja. É uma referência aritmética; não substitui a leitura de rota e deslocamento entre lojas.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7C3008D-4782-4643-90F7-8A2B9374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1A1C295-4398-47F8-A07F-CF435203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SPOT × P&amp;G  |  Pesquisa de tempos e movimentos em loja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153ABD1-9131-4FF6-B252-2B73470A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E0C2F"/>
                </a:solidFill>
              </a:defRPr>
            </a:pPr>
            <a:r>
              <a:rPr sz="825" b="1">
                <a:solidFill>
                  <a:srgbClr val="DE0C2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97173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5C52ADC-7159-4DDB-BCC3-A18F95D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0C2F"/>
                </a:solidFill>
              </a:defRPr>
            </a:pPr>
            <a:r>
              <a:rPr sz="900" b="1">
                <a:solidFill>
                  <a:srgbClr val="DE0C2F"/>
                </a:solidFill>
              </a:rPr>
              <a:t>RESULTADOS POR CANAL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44E20-B1A3-4410-BB7D-B6F1B1B2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221"/>
                </a:solidFill>
              </a:defRPr>
            </a:pPr>
            <a:r>
              <a:rPr sz="2325" b="1">
                <a:solidFill>
                  <a:srgbClr val="242221"/>
                </a:solidFill>
              </a:rPr>
              <a:t>C&amp;C | ficha completa de tempos e movimentos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03355-1433-494F-AC16-D3880951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362"/>
                </a:solidFill>
              </a:defRPr>
            </a:pPr>
            <a:r>
              <a:rPr sz="1200" b="0">
                <a:solidFill>
                  <a:srgbClr val="666362"/>
                </a:solidFill>
              </a:rPr>
              <a:t>Todos os dados abaixo reproduzem a ficha do canal no dossiê.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BF460-299D-4B2D-AAC8-32D11794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85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1867F-D36E-41DF-BBFE-4DE5FBF8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33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1BCE8-4DD9-40F0-AAF4-65BE3327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5B6DA-8F23-4113-9B5C-17320207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221"/>
                </a:solidFill>
              </a:defRPr>
            </a:pPr>
            <a:r>
              <a:rPr sz="1725" b="1">
                <a:solidFill>
                  <a:srgbClr val="242221"/>
                </a:solidFill>
              </a:rPr>
              <a:t>C&amp;C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579B2-07A5-46FF-92E3-84CAD3BB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13 visitas | 10 promotores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B8A1C-FA0C-4870-AAD2-051D4EC6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221"/>
                </a:solidFill>
              </a:defRPr>
            </a:pPr>
            <a:r>
              <a:rPr sz="2700" b="1">
                <a:solidFill>
                  <a:srgbClr val="242221"/>
                </a:solidFill>
              </a:rPr>
              <a:t>5h29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E98CC-F336-44F5-BB4C-9C42ACFA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tempo médio por loja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D4859-01A7-40F1-B4F8-5E058503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E0C2F"/>
                </a:solidFill>
              </a:defRPr>
            </a:pPr>
            <a:r>
              <a:rPr sz="2700" b="1">
                <a:solidFill>
                  <a:srgbClr val="DE0C2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BBADC-DEE7-4A38-AFB8-BB79E2BD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loja(s) por dia na rota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4C6C4-D306-4137-A404-6A905233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221"/>
                </a:solidFill>
              </a:defRPr>
            </a:pPr>
            <a:r>
              <a:rPr sz="2700" b="1">
                <a:solidFill>
                  <a:srgbClr val="242221"/>
                </a:solidFill>
              </a:rPr>
              <a:t>1,5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4CD5B-7583-4C73-8719-AFF167FD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projeção aritmética em 8h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1FE0F-B108-4CE0-A6A3-3E126B1F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362"/>
                </a:solidFill>
              </a:defRPr>
            </a:pPr>
            <a:r>
              <a:rPr sz="1050" b="1">
                <a:solidFill>
                  <a:srgbClr val="666362"/>
                </a:solidFill>
              </a:rPr>
              <a:t>Composição do tempo em uma loja | 5h29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773B1-67A1-48EB-8BC9-7FF3CDF3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29599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9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2468F-F963-4B0A-8D70-96E470B5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99" y="2981325"/>
            <a:ext cx="16444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A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5E5CAD-7622-4483-8681-A5B41CC6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236" y="2981325"/>
            <a:ext cx="9866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7A7ED-FAD9-4B2E-8F73-88332FB3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899" y="2981325"/>
            <a:ext cx="101955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0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39DA14-8D46-4599-9C90-357C2E89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50" y="2981325"/>
            <a:ext cx="506486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D86E3C-3C5D-478D-B587-58189025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319" y="2981325"/>
            <a:ext cx="7893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8990F7-B56C-4646-876A-AE46CD6D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649" y="2981325"/>
            <a:ext cx="82221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E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0040C-95C0-4798-92FB-5B075518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867" y="2981325"/>
            <a:ext cx="19733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5C4909-BC30-4A47-9EF4-CE9F8950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89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D08DC7-FB2C-4366-940D-278052D3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147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Entrada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480F2F-C2A3-445E-A019-A195EB11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A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5C3D8C-8D72-476A-AEB4-3C1359AF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147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Abertura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A8349F-3A8B-4A70-BE45-81C5E930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CB1D6C-8144-4BF2-91B1-EEB3F91F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147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Estoque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2A0079-8AFB-4D65-8C2B-CE6B1A81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0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8B2547-0945-4B56-B02B-A72162ED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14700"/>
            <a:ext cx="714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Check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A3C2F-816B-49B4-ADE2-2ED8443E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30A2F1-1C20-49BB-9879-A546985D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8D8468-1474-410D-B7DA-360A14DE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E5DD7E-42C7-4CBD-81B0-95E438E4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1470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Ponto Extra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F0924C-65E0-4A95-9262-F5194EAC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E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2993A4-6883-4EA4-820B-978E84C9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147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Outras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97C933-6BE1-44FD-B4C0-B07088F9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F165A2-906F-4621-8C13-9E4DD39F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147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Saída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E2A67D-78C2-42FC-A115-5A21D929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1908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765695-2E26-4891-8FC2-18A85972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Tempo por bloco - por loja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B2AA06-B041-42D6-85A3-ECFF886F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76E5C3-79F2-42C5-A2FA-BD514FA4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Entrada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31D684-D93A-4512-8655-7FD11E15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52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9 min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8909A4-3E7D-4F68-9C94-DA2B3D0B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Abertura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740B66-7CC5-415A-927C-9DA7F01D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81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50 min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651EE0-062E-42E6-9C9A-FCE43585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4B91EB-2C87-4C6E-BFC2-E4C8E43D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Estoque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65DA77-0491-49DE-91FB-B0B901DB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10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30 min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A8F60A-16DC-41B7-83ED-A039E715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Check Out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2E6695-C0CF-4ADB-95B9-FA682D1B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387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31 min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0F14139-5472-48EF-A70C-A6010C45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6A67D2-9875-467E-A26A-41EBBC67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Natural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465E232-8A53-423B-8E4F-900FA032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673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2h34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19DE24-ED8F-423E-A70A-EE2985B5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Extra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E2F89D-DF41-4E07-A773-53B9DEFA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95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24 min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378187D-9DE5-4736-95F9-1507A462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28977A-BCBD-4AA7-9295-06E07404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Outras Atividades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AA8880-8F64-49C8-BB2F-AD237EF8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524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25 min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E08DDD-A8F6-4FA0-BE22-3B0366EC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53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Saída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78F60F5-BE37-469E-BB85-FE57B73B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753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6 min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FC0576-B875-400E-9656-950CFA6B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67125"/>
            <a:ext cx="31908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D04DD1-2AE1-479B-BA14-B4327C8E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481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Jornada de 8h projetada | 1,5 lojas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2D66EB-C754-4A3F-BFF0-C4917BE4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E82D873-6FE8-4F61-A64F-1EE72638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52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Entrada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E6C89CB-299C-42A1-AEC7-9A746998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14 min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B67FE89-4B87-43B3-A727-51673CB2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81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Abertura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6B6BC13-FC62-40E0-B52B-2A779F4E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1h13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98F0AEC-6ACD-4A70-A853-12BFB798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720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9E816D3-9812-4C7F-B443-5A93D58A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10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Estoque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11B51C2-AEB0-4FC4-8B57-55291590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0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43 min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177BD95-444B-4408-94D2-AB9F050F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387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Check Out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6C71FC0-FA69-4E27-B5A7-A2B4F1A6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87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45 min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CB74120-46F0-4D63-B87C-5D41377B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292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C588776-0F28-4BE9-AE76-ACF73E97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673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Natural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D2E09DA-5A45-49DE-94CD-17ED6869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3h44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7BB22CF-0919-4BA7-8657-DB9A6940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95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Extra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98EFE5F-C80B-4EC7-AA1B-65922B94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35 min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F7D943C-2189-481C-819A-F0BC90B6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E8D1F8D-015C-42DB-97E9-F2DCF747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24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Outras Atividades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EF4240F-E94F-4495-B3A8-D6FF74EC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37 min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4E07F2E-B922-4979-A9E5-5315BD68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53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Saída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6C6D87C-A484-456B-9180-7F260125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53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9 min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F805039-A21C-42C4-BF0D-4479B3BF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67125"/>
            <a:ext cx="4000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D91276F-17A8-46BB-BED3-18163C44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48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Movimentos mais caros por loja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611A812-BF66-4388-9B2F-D3751DAD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0527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Buscar itens faltantes no estoque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F1A6D01-B1CD-48BF-ACC6-1A23A8A2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AE7FC6B-D057-4AC5-872E-B3A9E460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433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57 min | 17,3%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80D6883-82C5-4506-AC1C-FE699710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AD04091-03C4-4005-AC91-DDF5FED4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9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Abastecimento e organização (Layout/KBDs etc)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DBAAD5A-5F30-41CF-9B77-4F26C120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F7262F1-801D-4D51-99DD-61C16DCA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4577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43 min | 13,0%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606124A-4AAC-4CF9-A1AC-A3A7F9A2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95825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4ED678A-8F27-4511-A934-77CAD6BF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3392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Precificar todos os itens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413F969-496E-4101-A3E1-FB009B54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7680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716F19E-4ADD-47DB-92C1-7EA00124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7202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22 min | 6,8%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38A79CA-2EC1-4138-9973-DE14F3DD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101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77BE084-9ED7-4DA0-AD6E-CD590C07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482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Limpeza antes do abastecimento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D017D69-18C4-4011-88FE-8D133D8E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9112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9A76E0F-70F9-423F-BAB8-55132CF3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0863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21 min | 6,3%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5A3180C-D13D-4F3E-AEBB-4540C0D9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24475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9D9D141-EC76-4B4B-9E55-1A82BF69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6257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Identificar pontos de atenção / rupturas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9F77ACA-1E7C-47A9-9E2D-05EDBE5D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0545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Abertura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818FC23-3DC7-4FCE-A6D1-C8FEF25E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006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19 min | 5,9%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3C9D601-006F-4DB2-A2EF-E3CFE779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388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DE9FDD7-C3D9-4D4D-A57E-46FAEB86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769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Leitura de loja (checklist / auditoria)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BE5BA35-1323-438C-B05B-822AF445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1977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Outras Atividades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F12F754-9021-4069-901E-E781F82F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7150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15 min | 4,6%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6416039-F540-4C1D-AEC0-B45E8AE0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Projeção em 8h = 480 min ÷ tempo médio por loja. É uma referência aritmética; não substitui a leitura de rota e deslocamento entre lojas.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AB2BB12-C9F7-4631-85EA-EFBEB113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EEB052F-8BD8-41FF-A3AD-7BCE0E0F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SPOT × P&amp;G  |  Pesquisa de tempos e movimentos em loja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2C6DFC1-36A5-430A-B237-67B4C0A0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E0C2F"/>
                </a:solidFill>
              </a:defRPr>
            </a:pPr>
            <a:r>
              <a:rPr sz="825" b="1">
                <a:solidFill>
                  <a:srgbClr val="DE0C2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372734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93583C1-004F-4373-A322-9900DF24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0C2F"/>
                </a:solidFill>
              </a:defRPr>
            </a:pPr>
            <a:r>
              <a:rPr sz="900" b="1">
                <a:solidFill>
                  <a:srgbClr val="DE0C2F"/>
                </a:solidFill>
              </a:rPr>
              <a:t>RESULTADOS POR CANAL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62A6F-DBE2-4639-B981-ECF49A9D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221"/>
                </a:solidFill>
              </a:defRPr>
            </a:pPr>
            <a:r>
              <a:rPr sz="2325" b="1">
                <a:solidFill>
                  <a:srgbClr val="242221"/>
                </a:solidFill>
              </a:rPr>
              <a:t>NMR | ficha completa de tempos e movimentos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8394A-E21E-4225-9C67-85B4BF19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362"/>
                </a:solidFill>
              </a:defRPr>
            </a:pPr>
            <a:r>
              <a:rPr sz="1200" b="0">
                <a:solidFill>
                  <a:srgbClr val="666362"/>
                </a:solidFill>
              </a:rPr>
              <a:t>Todos os dados abaixo reproduzem a ficha do canal no dossiê.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69788-AE63-4E0F-8AA2-3B68C907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85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6FDF6-837C-4BF8-AD55-700091AB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33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B243C-392D-4999-B14C-136F6B20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ABA3F-EBF3-4CCA-8222-3A36802C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221"/>
                </a:solidFill>
              </a:defRPr>
            </a:pPr>
            <a:r>
              <a:rPr sz="1725" b="1">
                <a:solidFill>
                  <a:srgbClr val="242221"/>
                </a:solidFill>
              </a:rPr>
              <a:t>NMR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B9339-B0A8-46B9-A7CA-47F3BC9B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13 visitas | 8 promotores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2ED6F-E757-45C5-89CE-DB5097D2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221"/>
                </a:solidFill>
              </a:defRPr>
            </a:pPr>
            <a:r>
              <a:rPr sz="2700" b="1">
                <a:solidFill>
                  <a:srgbClr val="242221"/>
                </a:solidFill>
              </a:rPr>
              <a:t>7h03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AC0CB-F794-4E66-9BF8-6877FD9C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tempo médio por loja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D3B25-7000-4EC6-AE59-6E9AFB2D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E0C2F"/>
                </a:solidFill>
              </a:defRPr>
            </a:pPr>
            <a:r>
              <a:rPr sz="2700" b="1">
                <a:solidFill>
                  <a:srgbClr val="DE0C2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D2FE3-4FC6-4360-AC8A-78537BA9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loja(s) por dia na rota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94328-7D56-47B3-83B1-00972026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221"/>
                </a:solidFill>
              </a:defRPr>
            </a:pPr>
            <a:r>
              <a:rPr sz="2700" b="1">
                <a:solidFill>
                  <a:srgbClr val="242221"/>
                </a:solidFill>
              </a:rPr>
              <a:t>1,1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80CA7-0839-4131-860D-B2C91CA2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projeção aritmética em 8h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0FA56-B668-4243-A2A0-0A1643BB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362"/>
                </a:solidFill>
              </a:defRPr>
            </a:pPr>
            <a:r>
              <a:rPr sz="1050" b="1">
                <a:solidFill>
                  <a:srgbClr val="666362"/>
                </a:solidFill>
              </a:rPr>
              <a:t>Composição do tempo em uma loja | 7h03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37519-3380-4309-830D-19096419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28138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9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E0BE2-892A-478A-B456-837EEAF0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82" y="2981325"/>
            <a:ext cx="104878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A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75B33-6FC3-40B3-8E41-946916A9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967" y="2981325"/>
            <a:ext cx="104878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F7C2FB-5C7A-4487-92C1-27248371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753" y="2981325"/>
            <a:ext cx="99762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0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555FC-661F-4036-835D-B27880B6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379" y="2981325"/>
            <a:ext cx="50392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200E18-43E7-463F-AC3D-03B7C885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667" y="2981325"/>
            <a:ext cx="117668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34DDF7-4074-426C-96EF-96F8A8F2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353" y="2981325"/>
            <a:ext cx="869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E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4BB0F8-6057-4544-ABC6-4E701D92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078" y="2981325"/>
            <a:ext cx="35812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6F1035-9CDA-461D-A793-DBD2AC8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89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65B1FC-D772-4B97-93DF-BD9631A4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147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Entrada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4E1A55-8E19-4918-9B5E-7723257A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A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BCB396-25A3-47F0-B5DC-09F4BFE0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147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Abertura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060BEB-AFA1-4C00-8225-319E6E5F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440026-11BA-47AA-AB7F-ACDE01F5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147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Estoque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C92DCE-88FF-41F2-93F4-6A90EB88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0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867F00-BC59-40CD-A807-230112B0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14700"/>
            <a:ext cx="714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Check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DC37BA-323B-4983-A9BC-891A197C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812500-AE9A-491D-BBA8-B322D55A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75B9B8-F867-4A9F-993A-66BF7234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F0CA0E-A55B-4756-9DF8-D71620E3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1470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Ponto Extra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000C82-7999-4AFE-8304-6403B519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E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144AF8-6E95-4FB2-9190-44D5CB9B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147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Outras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D0795F-0599-40A6-9ED8-65F01081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415A43-44DA-4900-A1D3-0F105EED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147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Saída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70728B-AE46-4FF4-898B-839C8D98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1908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4CA4A4-DA45-4B3C-8172-FB78B47A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Tempo por bloco - por loja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073B19-B509-4EEB-B424-55BF8B80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3C0C68-2DF7-48B3-9668-53A966EA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Entrada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7F7B11-D27B-41C0-97E3-42117CD2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52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11 min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07E4A2-97E5-48C7-93E5-99E9B23E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Abertura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AE8182-BA8D-4EE6-881E-79EC18A2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81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41 min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F5C849-67D7-4C08-9E9C-1BFD8276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FEE802-6931-4638-8BA4-4AEBA153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Estoque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653E50-5ACC-43B1-9965-0300807C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10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41 min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F74EE9-E6F8-4978-A075-60DB2D57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Check Out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3F02C5-E605-439D-8A1F-3BAF9A23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387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39 min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A0C0C8-C785-41BE-95FA-695D32AE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76EA9C-2BA8-45EB-9805-436A4D43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Natural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7675A0-BB28-418D-8EF4-94129A50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673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3h17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3B1DDC-0956-48AA-8570-6AD1166F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Extra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C58E47-D13C-4F4E-912E-5FE85734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95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46 min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B75AD39-F96D-4705-BEBF-EF953172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971EECB-63B4-4205-8E20-2B882703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Outras Atividades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547166-7330-4C34-885B-7B6C2BA3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524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34 min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A7F2BDA-85D7-4449-8F56-2F064C82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53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Saída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A464BA-03F5-4F19-BCC5-C4BB4982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753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14 min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4AC93DB-6DA3-4061-9A22-EBEEFAB7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67125"/>
            <a:ext cx="31908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F0DA2D9-4C49-4593-971C-0C04EAAE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481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Jornada de 8h projetada | 1,1 lojas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B0A209C-E386-4990-B1FB-326967B5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2F32B4D-82CC-4F2F-9D08-47D14A29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52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Entrada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08E4889-9860-46CB-B046-B3A48988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12 min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8E0B58E-CDD7-4C27-8A7B-89B90281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81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Abertura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E941C83-6B48-4A45-8F4C-7932AD58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47 min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1C6AC4A-876D-490A-A04F-A050A89B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720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29D026A-ADEB-4AAA-A3A9-82BD74E4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10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Estoque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5288C67-3F98-45CD-8558-C233DE95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0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46 min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313C92-DBAA-4C87-BA23-502FA5E1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387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Check Out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C282D8F-8826-4B17-9D85-F0A57DED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87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44 min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6AB8C9A-CA36-4D1E-847B-0D2F98C4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292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CEFD283-1142-4C36-9D40-BC3B85C3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673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Natural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2C6164E-569A-4A4B-9C91-624DF8F8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3h43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E689F99-0B0B-4BB9-8E17-39C9C8AD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95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Extra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979268C-EEE6-4567-BEAF-363BBD2D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53 min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1EC0452-821E-465D-81A8-9BE652B9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4ED6AEC-2837-49FD-9EC8-4C1A4221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24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Outras Atividades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3943753-FEF6-4BE8-BBC4-02D49C77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39 min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7DB21B0-F052-490F-AB4E-4FE8E046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53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Saída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6CF5F0E-F429-4B24-8799-EB4D2E95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53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16 min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08A8CD7-112A-45DD-822B-4DD837CC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67125"/>
            <a:ext cx="4000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B949795-1350-4E39-B758-43712C37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48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Movimentos mais caros por loja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439A808-3E99-422B-87B6-4D39002C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0527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Abastecimento e organização (Layout/KBDs etc)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83AC892-DFE8-47EF-8801-56B361C4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4AFFE90-E6F0-4464-98FB-2F5B1C03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433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62 min | 14,7%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A5E84E5-4695-4EA2-863C-27DF0DE8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2E91C95-160C-452B-9E09-1C1FCB51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9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Buscar itens faltantes no estoque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113ACB3-CD1C-4F42-9FB6-4F0F8288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3F6ABAE-64F2-4D47-9A4B-E372D63D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4577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41 min | 9,6%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372AFFC-C26E-4B68-BAF2-4B8E887C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95825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F85C9C1-57CA-4C42-A54E-99F7080E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3392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Precificar todos os itens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E5BBF3C-64BF-4371-A7D5-06AFA947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7680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3426DE1-5246-4577-B382-9E69BA39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7202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35 min | 8,3%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30E4E39-7473-40D5-BAD6-0BC5D92D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101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3283270-1EB9-4AB2-BF79-F61D55F8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482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Limpeza antes do abastecimento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C47D41F-D0E6-477F-B58A-ED13C118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9112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7F30B5A-C92A-4B0C-9A16-CE2ACF36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0863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31 min | 7,2%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AC5705F-EF18-4B1F-9E90-D343F7F8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24475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C36BDF8-ECC6-4770-AD25-C2748C4F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6257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Validar estoque virtual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1545A60-CC4C-49D8-9D53-694B0110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0545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752B71D-EFC6-46C0-B718-B9CBB7BB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006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28 min | 6,6%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3DE915C-9BA3-4549-ADE5-EA0C6073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388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BB979F2-EF40-4592-BE54-C36C589E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769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Leitura de loja (checklist / auditoria)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6F20E46-5569-4634-802A-4D298C9B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1977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Outras Atividades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CB2544E-F514-4132-9EC1-ED4F38AF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7150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21 min | 5,1%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31CAD5D-7A78-4F44-8F23-6CAE45D1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Projeção em 8h = 480 min ÷ tempo médio por loja. É uma referência aritmética; não substitui a leitura de rota e deslocamento entre lojas.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5BBBF87-6353-4615-98EA-48633949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80BEEE1-C7E8-436B-A3E6-B6737223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SPOT × P&amp;G  |  Pesquisa de tempos e movimentos em loja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2A14725-1007-4183-8D8C-C2AE4C95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E0C2F"/>
                </a:solidFill>
              </a:defRPr>
            </a:pPr>
            <a:r>
              <a:rPr sz="825" b="1">
                <a:solidFill>
                  <a:srgbClr val="DE0C2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3659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71E1807-2EBA-41FF-9573-B4E1268B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0C2F"/>
                </a:solidFill>
              </a:defRPr>
            </a:pPr>
            <a:r>
              <a:rPr sz="900" b="1">
                <a:solidFill>
                  <a:srgbClr val="DE0C2F"/>
                </a:solidFill>
              </a:rPr>
              <a:t>RESULTADOS POR CANAL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9E61B-8EBE-4F80-B3D1-B5A05995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221"/>
                </a:solidFill>
              </a:defRPr>
            </a:pPr>
            <a:r>
              <a:rPr sz="2325" b="1">
                <a:solidFill>
                  <a:srgbClr val="242221"/>
                </a:solidFill>
              </a:rPr>
              <a:t>GMR | ficha completa de tempos e movimentos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2DCD7-74C6-462A-92C3-D62AD549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362"/>
                </a:solidFill>
              </a:defRPr>
            </a:pPr>
            <a:r>
              <a:rPr sz="1200" b="0">
                <a:solidFill>
                  <a:srgbClr val="666362"/>
                </a:solidFill>
              </a:rPr>
              <a:t>Todos os dados abaixo reproduzem a ficha do canal no dossiê.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80E12-31B2-498A-A1FF-D5B5E384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85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40597-330A-4ED1-BFB3-46B2ADAF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33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BE062-B29F-41D6-BEBD-B0278F9A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9752F-4310-48B3-A36F-C82C11A8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221"/>
                </a:solidFill>
              </a:defRPr>
            </a:pPr>
            <a:r>
              <a:rPr sz="1725" b="1">
                <a:solidFill>
                  <a:srgbClr val="242221"/>
                </a:solidFill>
              </a:rPr>
              <a:t>GMR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90C9E-6A50-48FF-A41D-0A9E5E93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10 visitas | 7 promotores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73C75-80D2-4453-BD42-30C54BD8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221"/>
                </a:solidFill>
              </a:defRPr>
            </a:pPr>
            <a:r>
              <a:rPr sz="2700" b="1">
                <a:solidFill>
                  <a:srgbClr val="242221"/>
                </a:solidFill>
              </a:rPr>
              <a:t>5h06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19A06-E9BD-4DA5-AAB4-F9505393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tempo médio por loja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84234-9B19-45F2-B9C5-2880457C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E0C2F"/>
                </a:solidFill>
              </a:defRPr>
            </a:pPr>
            <a:r>
              <a:rPr sz="2700" b="1">
                <a:solidFill>
                  <a:srgbClr val="DE0C2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3AE91-6095-444E-BD65-5D425BFC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loja(s) por dia na rota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64606-FCF0-4276-B073-DF980AB1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221"/>
                </a:solidFill>
              </a:defRPr>
            </a:pPr>
            <a:r>
              <a:rPr sz="2700" b="1">
                <a:solidFill>
                  <a:srgbClr val="242221"/>
                </a:solidFill>
              </a:rPr>
              <a:t>1,6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EB978-F72E-4BD5-A739-B3406954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projeção aritmética em 8h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A88F5-97C2-41F9-B12F-149A0C95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362"/>
                </a:solidFill>
              </a:defRPr>
            </a:pPr>
            <a:r>
              <a:rPr sz="1050" b="1">
                <a:solidFill>
                  <a:srgbClr val="666362"/>
                </a:solidFill>
              </a:rPr>
              <a:t>Composição do tempo em uma loja | 5h06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A41D7-6304-45EB-8DDC-62206A00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13154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9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4649A-47F8-4C4B-A1A4-AD3ED47D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45" y="2981325"/>
            <a:ext cx="141443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A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DD0C5-6689-448C-A171-5B3FD3BC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776" y="2981325"/>
            <a:ext cx="113154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5CB722-4B09-4673-90B7-061C4D8C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3322" y="2981325"/>
            <a:ext cx="6718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0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5666D-AE46-40C7-A981-270EEFA4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176" y="2981325"/>
            <a:ext cx="339463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FD18E-023A-433E-9DAA-AE3160B5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812" y="2981325"/>
            <a:ext cx="60113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D6884C-C901-4216-B1DC-4B09FA9F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945" y="2981325"/>
            <a:ext cx="208628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E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0CA519-DB1B-4A4B-BDEA-1D35BED6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231" y="2981325"/>
            <a:ext cx="38896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B4EB3E-5CEA-48B0-BA9D-8567AF10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89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25BAB-098B-4B35-B92A-52DAF321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147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Entrada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DDBF85-5AE5-4BE3-A493-05A3DAFD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A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344B-732F-4D21-9683-49723D71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147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Abertura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A7EECE-09B3-41E3-947C-C6CEDF5E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49F811-CE96-409F-A8D6-B8E2469C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147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Estoque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472B38-9A43-4FC0-B60F-4F53352E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0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D69434-155D-4D88-BEDA-D24FDFAF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14700"/>
            <a:ext cx="714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Check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65FDCA-8860-402F-A810-1D18C501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F672CC-E694-46A2-AF80-CA59636F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727F6D-9347-4C3F-8396-187C25BA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F18934-34B9-4152-97A4-8568E5B9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1470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Ponto Extra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171CE5-D7AE-4D3D-BE31-4FE7C3FF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E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C227F9-65CC-4DCE-9B2A-A60012D5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147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Outras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97F46B-007E-4887-8A01-837DC4EF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381FE6-4866-48B7-B5C1-766BF5C0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147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Saída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40F50D-75E9-4658-A6C8-D41068CB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1908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A96488-D190-4244-AD30-3F415BD8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Tempo por bloco - por loja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A014F6-1E25-41BA-9B06-089DCCA9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8EFD0E-E871-407A-9375-CF5E7369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Entrada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DD97A7-C057-4573-82A7-960625D3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52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32 min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B8B654-2088-4476-B09F-7E4917D5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Abertura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C5A86B-3929-403E-B7C7-EB19EE28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81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40 min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D51287-83F7-4C5C-8AA2-8698BD0A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0D3E89-77B3-46E5-B339-95CEE3D0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Estoque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0A90BA-1CC3-499B-9983-2EE6DED3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10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32 min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D67B72-8175-4AB8-840B-9B8F9B53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Check Out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FC79EE-2B16-4089-954D-773ED32E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387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19 min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A2C3F8-B802-4990-B799-88E28B8D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8850F3-A1A3-4941-B91B-C0B7A630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Natural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AAA790-5247-41B5-A4C1-B95350B5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673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1h36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25CECB-D84A-4E6F-8BBD-456D56E2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Extra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B46C85A-4708-4438-8F05-4CC75BBF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95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17 min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ECD7FB1-2817-4717-B696-ACD9C4CE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D0CF9BB-9F67-4C7E-B283-78DE00D4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Outras Atividades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F06AA7-0646-42DA-80CB-B1144D85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524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59 min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BD27B93-02FB-4088-9044-ED24A611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53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Saída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B3B7E3D-F61F-4935-9DE1-62B0B174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753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11 min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B46613D-1869-43D8-8F63-37260575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67125"/>
            <a:ext cx="31908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1ACC9CB-9B6F-4A97-8198-938E422F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481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Jornada de 8h projetada | 1,6 lojas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3B02D7-5B07-4679-8B4F-ED144B18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48F3AA5-1578-4E83-A61E-B92DD25D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52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Entrada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F073E74-0480-41D5-AFD2-6F1664D5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50 min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D8FF1A3-8897-48D9-B2B8-41F1CD28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81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Abertura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90C6FF8-B5E3-4D00-83EB-3D31F88C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1h03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476BBCF-896F-4EC0-92BB-56F52369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720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FFC7631-7536-468A-8BEA-BB4FE6F0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10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Estoque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E6247D7-62DB-40F8-A0F0-1A0C9719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0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50 min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4800185-4FD7-4BCA-8980-D2C45D11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387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Check Out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B79D086-88CE-4574-A919-8425FA7E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87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30 min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9047EB9-E7C1-4579-99E4-D74FF930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292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A362197-CB94-44B0-AA2F-34E61C45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673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Natural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B1F6941-7EFD-4D46-BEFB-03CCC1F8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2h31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46B37E7-973B-4FD2-8FE6-FDBB79AD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95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Extra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584C3D3-1F8C-4B18-A0EE-F5DE3EEC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27 min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50B1DF5-3988-43D8-8765-976CCCA8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DDFE79F-5529-4506-A242-28702CDC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24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Outras Atividades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78BD8E6-69B2-4F1F-9759-E639F033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1h33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532F70E-CBE1-45AA-A3BC-6A71EE3E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53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Saída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261CBBD-E512-4019-AFAE-4A961F0E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53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17 min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D81E77D-2DBD-41F5-80FD-E643FEE2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67125"/>
            <a:ext cx="4000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BAB4E4A-0A98-4106-AB57-5A4EAE32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48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Movimentos mais caros por loja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4FA0362-1940-4500-AA33-18942710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0527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Deslocamento interno dentro da loja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13FB84E-1FA2-4F2E-9E81-8C316DEB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Outras Atividades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D615A05-19E4-4C3C-84E8-7AA85A21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433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41 min | 13,3%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C9ADFDB-00D4-4A8E-9AE8-832075D6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020D6D2-A7D2-46E0-A50F-C881E2C3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9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Abastecimento e organização (Layout/KBDs etc)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65A398C-E0DB-4D45-87CB-3E211151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8F77F2D-7A80-4EDB-807B-A5B89176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4577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34 min | 11,3%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3C01754-5DD3-4D36-9296-CB6C04DC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95825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21C6C33-F62A-489F-8518-2FAA98D5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3392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Buscar itens faltantes no estoque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29E6E94-0C50-46F6-A514-A8294AB9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7680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F22B18A-00DD-4067-B41B-348FBDEF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7202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19 min | 6,2%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BAF2B75-E258-4D92-98B6-38716DAE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101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7340E01-51F3-4100-B3C1-2A542F50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482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Precificar todos os itens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82E9276-5673-4706-B443-178AD5A2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9112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761B219-8025-45A0-9DC7-8289C5EF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0863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17 min | 5,6%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770025C-4DDF-4F22-A9EF-8641E91A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24475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08BCCCB-68A9-44C4-9055-05F8547D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6257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Passar por todas as categorias puxando frentes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067BB82-5820-4DF3-800F-896FCCC7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0545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Abertura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ACFF17F-0407-43DF-B4BE-54D3A532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006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15 min | 4,9%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5478F43-E979-4706-B473-10857F63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388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77369A3-703A-46F6-BC32-C61199FA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769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Limpeza antes do abastecimento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C9351FF-AFE2-40B5-A05A-691CC053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1977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FC84E45-AE52-42D1-A53E-4F363793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7150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13 min | 4,3%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55D8045-4737-407D-A061-82C6EA04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Projeção em 8h = 480 min ÷ tempo médio por loja. É uma referência aritmética; não substitui a leitura de rota e deslocamento entre lojas.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DE9E45D-40C3-478E-8A1C-D3214D63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8A75EED-2C90-49B0-8E1D-230ACF3E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SPOT × P&amp;G  |  Pesquisa de tempos e movimentos em loja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2E06AE5-92E0-4468-AA4B-52D7B372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E0C2F"/>
                </a:solidFill>
              </a:defRPr>
            </a:pPr>
            <a:r>
              <a:rPr sz="825" b="1">
                <a:solidFill>
                  <a:srgbClr val="DE0C2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383078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7648541-F06C-490A-9D4F-9625B0F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0C2F"/>
                </a:solidFill>
              </a:defRPr>
            </a:pPr>
            <a:r>
              <a:rPr sz="900" b="1">
                <a:solidFill>
                  <a:srgbClr val="DE0C2F"/>
                </a:solidFill>
              </a:rPr>
              <a:t>RESULTADOS POR CANAL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D6BCB-12BC-4153-A42E-F3FF8960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221"/>
                </a:solidFill>
              </a:defRPr>
            </a:pPr>
            <a:r>
              <a:rPr sz="2325" b="1">
                <a:solidFill>
                  <a:srgbClr val="242221"/>
                </a:solidFill>
              </a:rPr>
              <a:t>HFS | ficha completa de tempos e movimentos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DE3D7-DA83-4FD7-84F9-4F2A16E3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362"/>
                </a:solidFill>
              </a:defRPr>
            </a:pPr>
            <a:r>
              <a:rPr sz="1200" b="0">
                <a:solidFill>
                  <a:srgbClr val="666362"/>
                </a:solidFill>
              </a:rPr>
              <a:t>Todos os dados abaixo reproduzem a ficha do canal no dossiê.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CEC75-D182-442F-94A0-9EF60CFE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85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FE829-4C51-4802-857F-64AC467C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33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490A1-AB9A-4CF1-A9A8-560DDA60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645F1-2EF7-4B35-B198-150F482C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221"/>
                </a:solidFill>
              </a:defRPr>
            </a:pPr>
            <a:r>
              <a:rPr sz="1725" b="1">
                <a:solidFill>
                  <a:srgbClr val="242221"/>
                </a:solidFill>
              </a:rPr>
              <a:t>HFS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0E032-CC89-42D6-91D3-9D39DD05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9 visitas | 6 promotores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DAF50-AFCB-4513-92DC-B4A9D733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221"/>
                </a:solidFill>
              </a:defRPr>
            </a:pPr>
            <a:r>
              <a:rPr sz="2700" b="1">
                <a:solidFill>
                  <a:srgbClr val="242221"/>
                </a:solidFill>
              </a:rPr>
              <a:t>3h36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13EB4-F185-4CE1-A2F5-2F4C12DB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tempo médio por loja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98C67-D10E-4087-A538-A2877990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E0C2F"/>
                </a:solidFill>
              </a:defRPr>
            </a:pPr>
            <a:r>
              <a:rPr sz="2700" b="1">
                <a:solidFill>
                  <a:srgbClr val="DE0C2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59AAB-8B54-4A2C-8B5E-BA1C9A7A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loja(s) por dia na rota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D7838-5635-4406-9183-F0108D7B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221"/>
                </a:solidFill>
              </a:defRPr>
            </a:pPr>
            <a:r>
              <a:rPr sz="2700" b="1">
                <a:solidFill>
                  <a:srgbClr val="242221"/>
                </a:solidFill>
              </a:rPr>
              <a:t>2,2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44786-15B5-4324-B2C4-88D512BE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projeção aritmética em 8h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7AF6E-C17C-4531-B98E-2B10E71D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362"/>
                </a:solidFill>
              </a:defRPr>
            </a:pPr>
            <a:r>
              <a:rPr sz="1050" b="1">
                <a:solidFill>
                  <a:srgbClr val="666362"/>
                </a:solidFill>
              </a:rPr>
              <a:t>Composição do tempo em uma loja | 3h36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647D2-58BB-4269-A9AD-ED3C24A1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71113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9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97B5C-7EA5-4053-B574-2A06E02D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933" y="2981325"/>
            <a:ext cx="211375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A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B8468E-2F42-41DE-9ACF-2F5F82A9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686" y="2981325"/>
            <a:ext cx="65425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7B9885-9DB8-4B09-B3CE-474CFC91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942" y="2981325"/>
            <a:ext cx="135884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0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D205B8-8F95-46EF-8F90-ADE82876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83" y="2981325"/>
            <a:ext cx="342226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2D027-CE56-49AA-8D7E-6961CD2A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6049" y="2981325"/>
            <a:ext cx="15098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E02A04-2BE4-4615-8D7C-7E8A0244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7032" y="2981325"/>
            <a:ext cx="125818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E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AA67A8-3AD0-4475-A73C-A2D26CE1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5218" y="2981325"/>
            <a:ext cx="15098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F6F430-5D1A-4316-ABC5-B0522154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89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203550-1C6E-49E5-8B20-ECEA9791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147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Entrada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23CD57-5A3D-4E88-B393-E9207A7F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A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587E66-C052-461D-8419-84A4E8A3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147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Abertura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1A0BF8-66AE-4075-B421-3A1209ED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1015FC-F9B0-4444-8678-A0AB6417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147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Estoque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00D799-6FB7-496E-8198-914A9A38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0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E15B8C-6046-4799-A654-2824C75E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14700"/>
            <a:ext cx="714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Check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417E2C-23B7-4A9A-89C7-10357EA5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E73911-82DC-4F5C-A0B5-201FBE69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412C76-A0A3-492B-A1D2-408AF2A6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F462AD-2875-4023-BEAA-114418DF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1470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Ponto Extra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9D7F2E-2EAE-4DDF-8F53-EABDEFA7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E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1B537C-DCA5-4C60-8E41-9D035810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147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Outras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4E8171-A9E1-46A5-B276-651B13E7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CEFD0A-90E3-4C17-BFFC-B028A4B2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147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Saída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304E0A-9D13-4336-B9DB-E9D3080E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1908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5073E0-F996-4F79-99A6-B83D0BB1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Tempo por bloco - por loja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395243-E69F-4BBC-87A2-628AC5F9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C53484-3E94-486C-93A9-3F6D11B1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Entrada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0DC824-4CD6-4D56-8C2F-2B4E19C9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52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34 min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8F5EC7-959E-4BEF-8FE0-AE416086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Abertura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313B30-4D50-42D4-BB44-565CB04A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81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42 min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E790C0-A34B-469E-8E8F-FD584431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8A1FB8-0D74-42B7-8775-0CB610C1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Estoque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EF2501-052D-4B0D-867D-D1F5A042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10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13 min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AB0769-0680-45CF-AB02-E45276A5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Check Out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61C439-5169-4DD1-9942-6FC41EEF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387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27 min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1D0453-FC21-4D66-932C-CEF43834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24BB3D-52F0-4CF9-ABAD-DCDB0B65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Natural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BA3B29B-1082-442C-B925-5B3BA5F1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673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1h08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3AAE0E-7FC7-4C39-A43A-BDB8175B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Extra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8C39F9-B9C4-451D-8178-AF2CEC14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95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 min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DACC2E-64EA-491B-808A-4EB5A4A7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05E92F-D94C-4B9D-B62C-5784C977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Outras Atividades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B30D73D-FBAC-46C2-BA02-234726EC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524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25 min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2650A5C-5296-4A8F-BA89-27D278E3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53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Saída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7BF6621-68F3-4DDC-B7FE-2C536BB8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753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 min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F9D3B21-60A6-4B1A-8976-2E24D9C5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67125"/>
            <a:ext cx="31908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E8D4E4-DD58-44A1-9BD0-3F231E6F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481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Jornada de 8h projetada | 2,2 lojas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D698950-EA77-4C5A-8DD8-344ECD6C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AE4A7C1-ED23-4D1E-8657-17770B45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52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Entrada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D6B8988-4439-4BF8-8A70-03B1B20D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1h15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772B624-4875-4D86-A55D-970D32F6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81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Abertura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A47351A-13C4-497E-99CD-92197B10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1h33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7E7662B-DA7F-45F9-AB2F-91DD0ACF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720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7172E52-14B3-4081-9620-9325EAB3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10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Estoque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E0ECF35-12F0-4D2A-B5D0-8750D6E3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0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30 min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8DC33D8-C60A-46B5-8517-086C41C8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387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Check Out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2EE976-3B95-49FC-960A-63F44004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87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1h01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10D1950-3134-49A4-BE13-6C8CB712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292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538E2F7-21BB-4454-9D78-41F15659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673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Natural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09C465B-EDC6-4F4E-A3CF-42994FE3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2h32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FF8807E-7CB3-4310-BEDA-36F33029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95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Extra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CDFCC74-A9D3-4385-B519-EB3F3242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6 min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AA217AC-A0AC-465B-BB8D-168E8ED4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10CF0F9-6B2A-4400-BF1B-D89BAFFF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24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Outras Atividades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E3949E9-0263-4E60-962B-63ED6425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56 min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370CE98-8168-49D4-A5D3-D4B8536D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53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Saída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FBB6C9D-3A14-4548-A191-FC63D7DC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53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7 min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E73AB52-C4DD-45F9-B610-270BAA3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67125"/>
            <a:ext cx="4000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DFDC1C9-AA84-4F01-B074-B4F2C8DE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48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Movimentos mais caros por loja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C59301C-7B1D-4DD6-A78A-DFC47999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0527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Abastecimento e organização (Layout/KBDs etc)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4D89480-D4CF-434F-86CC-4FCF6EEB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81E4D09-7F21-4D45-AF3A-D48FA033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433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23 min | 10,6%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7FAE764-3CAC-4F57-B295-09F52D6E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C4674E6-2EC5-4D26-83D8-BD0337D5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9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Precificar todos os itens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37861CD-ABD4-49A3-9380-9C0D0667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6F5AC02-E150-40FA-B787-25802883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4577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20 min | 9,3%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C2C1990-E9AD-4A5B-BDC9-ED568183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95825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64A048E-425A-4FD1-8137-FD061AE7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3392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Chegada à loja (portaria/entrada)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FC1A1A5-E129-4087-BDB3-DA90BE04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7680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Entrada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A2F33A9-C171-4DA9-AFE4-1E4115AD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7202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19 min | 8,7%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FCDB20E-F04D-40D7-8919-C7F9E9AC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101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A10B4F6-812D-425F-A61E-8BC47DE2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482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Limpeza antes do abastecimento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106C739-E6AE-4893-A38C-B4B9882F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9112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1228944-96AB-404D-8BC8-BD4CFDD0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0863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13 min | 5,9%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77942A7-13EC-4EF9-9EBA-9C774369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24475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D8C2474-7944-461E-A44F-E7B9AA55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6257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Passar por todas as categorias puxando frentes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5AA7E4B-B51F-4322-A9C4-9977BD65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0545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Abertura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021D3FC-E228-4916-B9C6-7CF0B370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006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12 min | 5,5%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E2E6EFD-BF8E-49C1-965D-847CF51E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388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D79EDEA-1CE3-477D-92CE-87FC8D62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769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Buscar itens faltantes no estoque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F40BBA3-47B5-4A06-9D5B-9040ECA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1977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53AA22A-ADA1-4D8F-8EF0-23179BC5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7150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11 min | 5,1%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F501512-33B1-46C8-80AC-0ECFE25E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Projeção em 8h = 480 min ÷ tempo médio por loja. É uma referência aritmética; não substitui a leitura de rota e deslocamento entre lojas.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D988399-0C3F-4579-8DBB-BC25E514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79B3F29-3F1F-43B5-9EDD-CE3EEFE0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SPOT × P&amp;G  |  Pesquisa de tempos e movimentos em loja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0F829A5-CE55-4B66-BE05-92CC197F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E0C2F"/>
                </a:solidFill>
              </a:defRPr>
            </a:pPr>
            <a:r>
              <a:rPr sz="825" b="1">
                <a:solidFill>
                  <a:srgbClr val="DE0C2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141373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515B7AE-FBD8-412C-B985-C290E53B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0C2F"/>
                </a:solidFill>
              </a:defRPr>
            </a:pPr>
            <a:r>
              <a:rPr sz="900" b="1">
                <a:solidFill>
                  <a:srgbClr val="DE0C2F"/>
                </a:solidFill>
              </a:rPr>
              <a:t>RESULTADOS POR CANAL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BC423-1AF6-4766-B3B2-2DBA5454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221"/>
                </a:solidFill>
              </a:defRPr>
            </a:pPr>
            <a:r>
              <a:rPr sz="2325" b="1">
                <a:solidFill>
                  <a:srgbClr val="242221"/>
                </a:solidFill>
              </a:rPr>
              <a:t>CLUB | ficha completa de tempos e movimentos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185A9-D543-441B-8F61-2C5330F6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362"/>
                </a:solidFill>
              </a:defRPr>
            </a:pPr>
            <a:r>
              <a:rPr sz="1200" b="0">
                <a:solidFill>
                  <a:srgbClr val="666362"/>
                </a:solidFill>
              </a:rPr>
              <a:t>Todos os dados abaixo reproduzem a ficha do canal no dossiê.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51ABB-E8D9-4EDE-A6AF-22815E09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85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A189B-6D1B-416A-9BF4-196DA1B2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33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07094-7864-41E6-B754-0BCD2B94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C28D5-6DDC-44A1-B9AE-225AA89D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221"/>
                </a:solidFill>
              </a:defRPr>
            </a:pPr>
            <a:r>
              <a:rPr sz="1725" b="1">
                <a:solidFill>
                  <a:srgbClr val="242221"/>
                </a:solidFill>
              </a:rPr>
              <a:t>CLUB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8B301-E3C7-4F95-B122-B29C6386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6 visitas | 5 promotores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A9B34-40E3-465D-ADA3-5B6DB0C3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221"/>
                </a:solidFill>
              </a:defRPr>
            </a:pPr>
            <a:r>
              <a:rPr sz="2700" b="1">
                <a:solidFill>
                  <a:srgbClr val="242221"/>
                </a:solidFill>
              </a:rPr>
              <a:t>4h51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EA2BC-B587-474D-92E7-C724CE54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tempo médio por loja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5684C-A716-4D52-81D3-04B1DFB9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E0C2F"/>
                </a:solidFill>
              </a:defRPr>
            </a:pPr>
            <a:r>
              <a:rPr sz="2700" b="1">
                <a:solidFill>
                  <a:srgbClr val="DE0C2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3A6AD-2257-4F6E-AB08-069A69BC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loja(s) por dia na rota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783EE-334F-42BD-B2A9-4E42995C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221"/>
                </a:solidFill>
              </a:defRPr>
            </a:pPr>
            <a:r>
              <a:rPr sz="2700" b="1">
                <a:solidFill>
                  <a:srgbClr val="242221"/>
                </a:solidFill>
              </a:rPr>
              <a:t>1,7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0E8B3-6C1C-42B0-B4DE-65640A33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projeção aritmética em 8h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9023F-7317-464A-BB84-AE7B8786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362"/>
                </a:solidFill>
              </a:defRPr>
            </a:pPr>
            <a:r>
              <a:rPr sz="1050" b="1">
                <a:solidFill>
                  <a:srgbClr val="666362"/>
                </a:solidFill>
              </a:rPr>
              <a:t>Composição do tempo em uma loja | 4h51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FD150-79E0-4C36-A072-9192F169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45015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9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9F664A-8EF8-4854-A982-871B355F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957" y="2981325"/>
            <a:ext cx="107832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A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C3118-995F-4DDD-843F-9020365B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278" y="2981325"/>
            <a:ext cx="55775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CE0596-EE2B-4D44-8C7B-5A86F897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31" y="2981325"/>
            <a:ext cx="137579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0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F8AFFF-EF4B-4CDC-B379-4ED9B3D4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821" y="2981325"/>
            <a:ext cx="397863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C1D0F4-BB7C-4C67-859D-2B7C3CB4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6456" y="2981325"/>
            <a:ext cx="9295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61D711-CB48-4FBC-AD80-F983C83D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043" y="2981325"/>
            <a:ext cx="130142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E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1077C3-0B26-4B00-A989-DC51B928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7466" y="2981325"/>
            <a:ext cx="14873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D07E72-3AA5-4353-8A30-FFF55DC7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89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055D50-69DF-42DA-A4AE-B2099DBF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147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Entrada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6B2A31-5ACB-497C-9A7C-B88E5E9B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A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65D48F-7DFA-48E2-B421-BC2A0A3A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147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Abertura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C0F685-55BD-4170-B242-C4611CB0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FACBBA-A3E7-4FAA-AB53-2ABB5659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147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Estoque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B62183-74EC-4DB0-BB91-0BBF9ED6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0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C46BC3-287A-42F1-AB9B-4E15D2B2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14700"/>
            <a:ext cx="714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Check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EDCA5A-4500-41B5-B257-08B6DFDD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A27A6E-D513-43EA-8136-EF2334F6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146208-A166-403F-AF12-806ACD16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29E184-87AE-4CC7-BB3E-0099B6D4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1470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Ponto Extra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208400-88C5-4F4B-8775-BB20EF4E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E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EC2E60-1D46-4B58-9523-56036F6B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147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Outras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CC2F5B-53C3-4AD1-BA4A-688A3379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79D866-64F8-4C51-91B8-575605F9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147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Saída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8CB3D5-DF0E-4126-B34F-B5BE82D3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1908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4C8551-8D24-48E1-B350-67D90886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Tempo por bloco - por loja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74D3A5-C4AE-4307-9313-D42B7F9A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150357-AEFC-40EF-A0BE-4909F4EB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Entrada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887DF1-ECA9-412C-AAAE-EC9145A4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52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39 min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E6441E-5BB0-4CD7-BB21-8D74F344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Abertura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7C8F6C-6D60-4DD1-8020-8F03090D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81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29 min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833897-49B6-48FD-80AB-9F869E86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8E7C59-AF73-4D2F-970F-9F0EB594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Estoque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C47B6F-6732-4B4F-B572-E2357CAA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10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15 min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4F3E80-FBE5-4D74-B8A6-1A38D1D9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Check Out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59607E-91DD-48D7-BF17-29CA5DE3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387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37 min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F6D740-495E-4F72-8965-A09EC483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D43931-9D01-462E-B664-A1E363B5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Natural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57D2FC-B9E2-4E13-B7E8-0639E037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673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1h47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B25ADB-8517-43A5-A7F1-ADD1FCE2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Extra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C2F364-5859-4C80-BCDD-0335D4CD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95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25 min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6EFFA3-BDBE-4B8B-88AB-1C7969AC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D123BB2-49F2-4892-A22B-4341DAF3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Outras Atividades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D0C2180-4D25-4E68-BCD9-42DFE349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524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35 min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A69B6F8-E3FF-419B-A5CC-4D677CF1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53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Saída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752E20F-15A1-48B6-AD95-8FCC8D25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753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 min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9CBFA78-14D9-423B-B604-4C10B3C9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67125"/>
            <a:ext cx="31908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8BEB4B7-875E-40FA-B6AC-B47093A9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481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Jornada de 8h projetada | 1,7 lojas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A9B4CE2-0951-4F5F-AAAB-787E3620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3804B72-9E53-4C14-AA03-CCEE2C5B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52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Entrada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939AC86-FD04-434D-AECB-356FBBD6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1h04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75D9578-3DAC-4098-970E-E15C2258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81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Abertura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CBFCA1A-7CFE-4C0B-B534-5380CB16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47 min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AEE95DB-8EE8-44B6-A29F-B22F4675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720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96FA9F3-CA4E-4003-A77D-123B2BA0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10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Estoque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BEF1930-6595-4539-8D58-A260F90C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0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25 min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C3CF5EE-F233-47AF-812A-5500A4BF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387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Check Out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4A24138-0286-4FEA-8C5F-14883A80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87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1h01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2D81449-7BE9-45ED-B589-E51CAD95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292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3DA0991-B6E0-4273-AE65-2B061B8F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673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Natural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9EB86A2-7E13-442A-9F93-8727CBE9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2h57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1F2B528-130F-482A-82EE-649BDA7B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95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Extra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9F8A455-29AB-445F-AB12-791A26F2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41 min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8AA2993-4226-4F08-8F94-16101B1D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84E07C6-9782-4062-B570-F42D125C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24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Outras Atividades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B0CEC3E-613D-401A-BBFC-7E16251E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57 min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9B7334D-0F1D-4837-9165-59A72C8B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53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Saída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081B9AF-6147-41AC-89CC-EA032028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53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7 min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D1A30A2-8350-484F-9BDF-C038E35B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67125"/>
            <a:ext cx="4000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16494D5-833E-4B3A-84D2-E38FD95A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48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Movimentos mais caros por loja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8CA3CFF-66CD-48CE-9E37-C8882E0E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0527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Abastecimento e organização (Layout/KBDs etc)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27CDBA8-FBD7-4FCE-A8A0-9DE51874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AE15AA8-38A7-4058-B298-8F28BEE3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433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46 min | 15,9%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BA7FAE7-3703-41AB-BCD5-A0ECC9EF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539F70C-6216-4422-B18B-8805FA34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9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Buscar itens faltantes no estoque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D5FB53C-B785-4203-9015-564BB526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C937EBF-3147-4F70-A365-B9C2504E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4577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24 min | 8,1%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AD0A04F-CF1C-4C1B-B267-8326B218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95825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04C7658-8280-4503-8913-07F145B1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3392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Espera para autorização / cadastro / liberação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7C89CA9-5280-4BA5-A9A0-2D19C48C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7680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Entrada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F24AB05-9A14-4499-89CB-98D1A47E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7202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21 min | 7,3%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267E061-734D-49C9-B517-0C1F3FA0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101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9C1F470-995A-4DB2-AAEB-C4569CC5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482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Limpeza antes do abastecimento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1F2C5B3-3AD7-443F-9006-E3F2BA50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9112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DA80A2A-2DB2-46DA-8B40-C9F38973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0863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17 min | 5,8%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EA80E82-04AE-427D-A47F-4F5728E5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24475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31A6250-8CE3-48FF-AB9E-0709C7D6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6257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Precificar todos os itens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9333E7D-CA65-4E0C-B742-3C92D366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0545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EFC0042-41B3-4384-A8E0-FF2A6E5A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006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15 min | 5,1%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2B5CCA9-723F-471E-8F89-722811CF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388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48F645B-B482-4F06-A87D-0F7346B3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769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Precificar todos os itens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26709AD-7F88-4EC6-9F00-E1AD6525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1977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Check Out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9131217-BBB3-4ECA-9F3E-8CC7F145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7150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13 min | 4,5%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2BDBD30-55ED-491D-9E00-3F87218B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Projeção em 8h = 480 min ÷ tempo médio por loja. É uma referência aritmética; não substitui a leitura de rota e deslocamento entre lojas.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F995683-C211-47B5-A996-8DEEABEC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AA5FDE4-0C35-474E-8CFC-85A4BFCB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SPOT × P&amp;G  |  Pesquisa de tempos e movimentos em loja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84B307E-844B-47E5-986A-A4853B55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E0C2F"/>
                </a:solidFill>
              </a:defRPr>
            </a:pPr>
            <a:r>
              <a:rPr sz="825" b="1">
                <a:solidFill>
                  <a:srgbClr val="DE0C2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871825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CED2F55-FB56-44BB-8694-A1868A0E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0C2F"/>
                </a:solidFill>
              </a:defRPr>
            </a:pPr>
            <a:r>
              <a:rPr sz="900" b="1">
                <a:solidFill>
                  <a:srgbClr val="DE0C2F"/>
                </a:solidFill>
              </a:rPr>
              <a:t>RESULTADOS POR CANAL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54FC7-063D-4CA8-B144-1AD678B0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221"/>
                </a:solidFill>
              </a:defRPr>
            </a:pPr>
            <a:r>
              <a:rPr sz="2325" b="1">
                <a:solidFill>
                  <a:srgbClr val="242221"/>
                </a:solidFill>
              </a:rPr>
              <a:t>LASA | ficha completa de tempos e movimentos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E83A3-0950-49FD-A483-1170C892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362"/>
                </a:solidFill>
              </a:defRPr>
            </a:pPr>
            <a:r>
              <a:rPr sz="1200" b="0">
                <a:solidFill>
                  <a:srgbClr val="666362"/>
                </a:solidFill>
              </a:rPr>
              <a:t>Todos os dados abaixo reproduzem a ficha do canal no dossiê.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0B8D2-B053-4C08-9D7A-B696C324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85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3F0DC-65E5-4F9B-80C3-E8D93CCB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33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99157-4336-4F9B-8E73-826220AF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4068B-3894-4D57-BD41-C5B62164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221"/>
                </a:solidFill>
              </a:defRPr>
            </a:pPr>
            <a:r>
              <a:rPr sz="1725" b="1">
                <a:solidFill>
                  <a:srgbClr val="242221"/>
                </a:solidFill>
              </a:rPr>
              <a:t>LASA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98270-E9B9-4619-8515-708D5C60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5 visitas | 3 promotores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6F7F1-F6A7-45CE-9109-4B68DD52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221"/>
                </a:solidFill>
              </a:defRPr>
            </a:pPr>
            <a:r>
              <a:rPr sz="2700" b="1">
                <a:solidFill>
                  <a:srgbClr val="242221"/>
                </a:solidFill>
              </a:rPr>
              <a:t>4h27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977EA-8739-4CED-8C30-F45A3D46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tempo médio por loja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6FD4F-B68E-4935-BCD9-DA748A67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E0C2F"/>
                </a:solidFill>
              </a:defRPr>
            </a:pPr>
            <a:r>
              <a:rPr sz="2700" b="1">
                <a:solidFill>
                  <a:srgbClr val="DE0C2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7E471-F32D-47F5-91E0-243DDD8E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loja(s) por dia na rota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42E37-D47C-442A-8A6D-2707063A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221"/>
                </a:solidFill>
              </a:defRPr>
            </a:pPr>
            <a:r>
              <a:rPr sz="2700" b="1">
                <a:solidFill>
                  <a:srgbClr val="242221"/>
                </a:solidFill>
              </a:rPr>
              <a:t>1,8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4AC28-C531-460C-A9C8-3E80A780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projeção aritmética em 8h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72317-04E6-40C2-8274-6DE68F66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362"/>
                </a:solidFill>
              </a:defRPr>
            </a:pPr>
            <a:r>
              <a:rPr sz="1050" b="1">
                <a:solidFill>
                  <a:srgbClr val="666362"/>
                </a:solidFill>
              </a:rPr>
              <a:t>Composição do tempo em uma loja | 4h27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A625B-4813-4786-A487-372BE4CF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72946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9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5A48D-6A0F-47D7-9899-BE9EEAE9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265" y="2981325"/>
            <a:ext cx="190471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A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8F68DF-7C5D-4DAB-904A-65EEFFC4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980" y="2981325"/>
            <a:ext cx="81051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B8721-52D3-4A3C-B721-2BB587F3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497" y="2981325"/>
            <a:ext cx="4457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0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6AC8AD-98F5-4CA7-9DC0-DAA91CE0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281" y="2981325"/>
            <a:ext cx="429573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7170C2-3AC4-4224-8FF6-488C70CA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020" y="2981325"/>
            <a:ext cx="40525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20D5A5-DF37-4048-8A03-BABB6AC5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279" y="2981325"/>
            <a:ext cx="218839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E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5BDE28-3F80-4ACF-AA20-14F9409C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5674" y="2981325"/>
            <a:ext cx="4052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D75AA9-893B-4328-979F-02BDD92D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89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306558-4789-4F3D-B015-4E4A948E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147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Entrada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DCD6AA-F7BF-4AB7-8F04-8616EC13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A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35F150-B47C-4B71-A87D-725A07AA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147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Abertura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B754CA-68D7-4EC9-B416-F019CBE0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892612-FD3B-4E97-809F-54658E49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147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Estoque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F1A081-193B-4CA0-BDB0-EC5910EB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0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6CFA68-A3B7-4EF1-B252-8AB80BF4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14700"/>
            <a:ext cx="714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Check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5A26A7-D38D-402A-8D8F-0572440A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20D492-9108-4670-8C69-05AB818C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E0F73E-613E-44EE-AF29-B4F188DD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8699F9-55B4-4D58-81C4-EE865DA1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1470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Ponto Extra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73E3F7-C2FE-418C-B475-D7CE7BCD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E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A397C2-2EC1-446A-8C6F-29AAF7DD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147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Outras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D381F5-8266-4E7F-A6B6-FF081526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5BBE2B-A17E-4E97-B14B-80C8C68C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147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Saída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35248C-8FE6-4FFF-83BF-1F51EF2D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1908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EED76C-74FE-426E-8410-C24980D4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Tempo por bloco - por loja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2DEF20-3C91-4D6B-9593-7D938262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740E51-5A64-44CE-9771-9137D835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Entrada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BC57F7-8131-4A90-B4C0-51E8B0EE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52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18 min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84268C-8868-4FCC-BDC0-50BB0FB1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Abertura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505297-E539-429B-94C9-92CCE5DA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81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47 min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BCF556-CF95-4628-83A0-EC26C5C7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8517E9-1823-4B45-8087-609B12A6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Estoque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848289-4A59-48E6-A510-01B9982E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10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20 min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98E59F-F327-412F-87E7-F28F2AE7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Check Out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DE09FF-2634-4A09-93BA-CDF13F4E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387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11 min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D96E69-1822-4A07-9BBA-49207056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C449C1-C577-4617-BC3E-65617149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Natural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B420A4-DFCB-4584-AA60-D7207BC2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673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1h46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D95F2A9-9A05-49A1-B550-DB523627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Extra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DEEE26A-CD45-47F7-B540-158384AD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95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10 min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ED647B-B2B5-4DD9-BCF1-7931DFFD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E09DFF-FFDD-4DF8-A28A-A2223F7E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Outras Atividades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2D6721-C14C-4E99-855F-FFA5FD69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524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54 min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13167C-9065-4EAC-B775-B32CFB87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53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Saída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6B424A3-5AEF-4878-AD65-A09B15C3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753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 min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6786DC9-105B-49B0-95F5-AC2479FE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67125"/>
            <a:ext cx="31908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BD363D0-CDBF-4B68-9BF4-4CEED8C3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481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Jornada de 8h projetada | 1,8 lojas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F5E0929-3EEF-42F5-804B-594EC649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86BE9AB-6D09-47BB-9876-EB19C947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52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Entrada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32BB454-CD03-441B-9D41-B07D55D4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32 min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50EF5DE-A9D1-43E8-9EBB-454EF3C7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81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Abertura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0D8A7C2-D9C5-47AD-BDC3-6AD883C5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1h24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21EA745-A8F2-4C65-8497-A643D82E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720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F713285-1FBC-43FA-BD68-F9C10BAC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10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Estoque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D8384F4-DAA4-4821-9BB6-AB53BF33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0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36 min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2781903-6CC0-42C4-BA6E-15028223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387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Check Out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067DC79-908B-4FAF-8CCC-0D79E8CA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87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20 min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439BFF1-4DB1-4D3C-B13A-893FC66D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292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0C4DDBB-1CB5-4FE1-8694-EC07C3BE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673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Natural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AFD384A-45E4-47C3-AAF8-84480982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3h11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8FBA5C-9D94-4B21-A37D-95769EB8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95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Extra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D500B29-0733-4FA8-869D-30430406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18 min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4B0263A-DE20-4C19-959B-24D262D3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6C91B45-D59B-4C68-9C1F-49DBC3CD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24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Outras Atividades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2D8D9E-A1C4-4592-B016-0E5EE32E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1h37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8165A2B-6B53-47C5-B4BF-F6B5C826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53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Saída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C38505B-14EF-4707-B910-BA3C12C7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53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 min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9887C6A-D9F9-44A1-B042-2E6291B6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67125"/>
            <a:ext cx="4000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6C9B730-0DFD-4E8E-B715-027F3AF1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48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Movimentos mais caros por loja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E577374-1E14-4C0C-9716-3BF09544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0527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Validar estoque virtual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44F8B45-BA6D-401C-AF58-FCDA7439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0C28190-F903-4D39-8D2D-33C684D9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433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35 min | 13,1%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F087F08-FA5D-4B47-9D7E-E5B1BE86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9A8C873-FE6E-4AB1-94C2-D4941247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9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Leitura de loja (checklist / auditoria)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9F0273E-2261-47F9-8D2A-CBB910AF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Outras Atividades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530CA55-3678-483A-889E-28217A9A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4577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35 min | 13,0%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30CBFF8-BCA3-4B62-99EB-95E7D321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95825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4C5122B-D055-4CC8-8857-0996ED4D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3392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Conferir encarte, Guia de PDV e MOP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C3A289F-069F-41AE-B856-902FDE32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7680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Abertura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F8CFE6A-F90C-4EB4-AEB2-C01A1228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7202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29 min | 10,8%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127796C-C012-4FB3-BC89-1186F4B6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101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728A5D4-9B13-4B7D-8573-9639CDC7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482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Abastecimento e organização (Layout/KBDs etc)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8F1547F-AF03-4CA4-BB6A-AD474E5E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9112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5962EC8-44F2-45E9-84C8-5F43B447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0863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29 min | 10,7%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45F1187-9FB4-4B6A-9DF5-D309DA97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24475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3AA9B2B-3258-4E0D-B1BC-E4CF73A4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6257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Deslocamento interno dentro da loja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52B3B6C-C701-4BF0-A7DA-A8758794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0545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Outras Atividades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B5A6EBD-7EA6-43CE-BF63-4B75AB0F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006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19 min | 7,2%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DBF7BFC-51E2-4608-8F1A-0975CA4F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388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CACF6DD-90C5-4E3B-9FD4-8C4F8126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769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Buscar itens faltantes no estoque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A8D18B4-4E91-49F2-99AC-42F0B718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1977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F01EACD-FB91-423D-AA96-A894D3E9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7150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18 min | 6,6%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89E2B2E-4781-49FC-A2D4-76C20EDD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Projeção em 8h = 480 min ÷ tempo médio por loja. É uma referência aritmética; não substitui a leitura de rota e deslocamento entre lojas.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4C18B14-E039-4E9A-A45E-AAAD5455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E10AB26-26C7-4AC9-B2E3-5027F0C6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SPOT × P&amp;G  |  Pesquisa de tempos e movimentos em loja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A7FE03C-1734-42FD-BD12-500A3ED5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E0C2F"/>
                </a:solidFill>
              </a:defRPr>
            </a:pPr>
            <a:r>
              <a:rPr sz="825" b="1">
                <a:solidFill>
                  <a:srgbClr val="DE0C2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939767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E9CCC41-6DDC-43A6-8F19-469D3582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0C2F"/>
                </a:solidFill>
              </a:defRPr>
            </a:pPr>
            <a:r>
              <a:rPr sz="900" b="1">
                <a:solidFill>
                  <a:srgbClr val="DE0C2F"/>
                </a:solidFill>
              </a:rPr>
              <a:t>RESULTADOS POR CANAL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658A8-A96D-4892-B31C-86741AA7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221"/>
                </a:solidFill>
              </a:defRPr>
            </a:pPr>
            <a:r>
              <a:rPr sz="2325" b="1">
                <a:solidFill>
                  <a:srgbClr val="242221"/>
                </a:solidFill>
              </a:rPr>
              <a:t>PERFUMARIA | ficha completa de tempos e movimentos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E0D39-BECD-497D-A20B-DFEECF15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362"/>
                </a:solidFill>
              </a:defRPr>
            </a:pPr>
            <a:r>
              <a:rPr sz="1200" b="0">
                <a:solidFill>
                  <a:srgbClr val="666362"/>
                </a:solidFill>
              </a:rPr>
              <a:t>Todos os dados abaixo reproduzem a ficha do canal no dossiê.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93F01-B24B-47A2-8907-DD5F666C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85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14B64-1CB4-470C-9C9E-9DF4034F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33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679E4-7556-44F8-944A-125C8028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633AF-9521-43ED-9187-A07388F0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221"/>
                </a:solidFill>
              </a:defRPr>
            </a:pPr>
            <a:r>
              <a:rPr sz="1725" b="1">
                <a:solidFill>
                  <a:srgbClr val="242221"/>
                </a:solidFill>
              </a:rPr>
              <a:t>PERFUMARIA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60ABB-F871-4780-9F07-110C4B5E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2 visitas | 2 promotores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711FA-07A0-4E96-B120-039CA026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221"/>
                </a:solidFill>
              </a:defRPr>
            </a:pPr>
            <a:r>
              <a:rPr sz="2700" b="1">
                <a:solidFill>
                  <a:srgbClr val="242221"/>
                </a:solidFill>
              </a:rPr>
              <a:t>6h24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2CAE9-1C85-486A-B536-17ADAFBE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tempo médio por loja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F1552-01D5-4D9D-834B-D949B627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E0C2F"/>
                </a:solidFill>
              </a:defRPr>
            </a:pPr>
            <a:r>
              <a:rPr sz="2700" b="1">
                <a:solidFill>
                  <a:srgbClr val="DE0C2F"/>
                </a:solidFill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106CD-5C5A-40F3-8B1C-C36652E8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loja(s) por dia na rota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2A0424-A55A-4F5D-B4F1-6404563F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2221"/>
                </a:solidFill>
              </a:defRPr>
            </a:pPr>
            <a:r>
              <a:rPr sz="2700" b="1">
                <a:solidFill>
                  <a:srgbClr val="242221"/>
                </a:solidFill>
              </a:rPr>
              <a:t>1,3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85E488-8AFE-4B2F-A0F6-67505249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projeção aritmética em 8h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3D1E9B-0274-43C9-8CB2-47BA8A91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362"/>
                </a:solidFill>
              </a:defRPr>
            </a:pPr>
            <a:r>
              <a:rPr sz="1050" b="1">
                <a:solidFill>
                  <a:srgbClr val="666362"/>
                </a:solidFill>
              </a:rPr>
              <a:t>Composição do tempo em uma loja | 6h24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93AB9-DC27-4041-9216-CE5B77DD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27132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9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EE78FC-9E53-4F7C-8FF1-1D3BB8D4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126" y="2981325"/>
            <a:ext cx="107356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A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116E4-7D2B-4279-8869-3FC50D0F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691" y="2981325"/>
            <a:ext cx="93230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5E687-264D-40D2-8F89-5CBBDD43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997" y="2981325"/>
            <a:ext cx="96055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0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BAB69A-58A4-4A4B-ACF5-79054F38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555" y="2981325"/>
            <a:ext cx="13278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E9EC22-7D7A-429F-9C8A-E92BA8A6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384" y="2981325"/>
            <a:ext cx="155384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4F2DCE-3085-4279-8442-7E21D9F4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228" y="2981325"/>
            <a:ext cx="330544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E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FDAEA1-154F-4462-B6A2-87150237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0676" y="2981325"/>
            <a:ext cx="39552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6FFCE-DBC2-4219-9E91-DBA6EACF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89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1861CD-A09C-43DF-9347-3642DF56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147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Entrada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2CE45E-BAE4-4796-9B88-4B26F3EF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BA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F23D72-817C-4ECB-A67D-0DD438D0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147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Abertura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55DF7D-D3C5-4903-B391-F4F5A925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520977-8059-4B36-8F12-695542FA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147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Estoque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764C98-6712-433A-89E5-66E2C1B9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0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D2C4F9-A6BD-47BA-A7B9-8D02675C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14700"/>
            <a:ext cx="714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Check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5C1633-8499-477F-95F3-F3EEB7C7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18EDAA-9BE9-4F2E-B690-7F7305B1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Ponto Natural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4E84E2-9C44-4883-AB7D-8AB02287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014A4E-F656-4AC1-A9BC-65B2B82A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14700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Ponto Extra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214ACD-4B8B-4284-8F49-BB2F87D5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E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E532C9-FAFD-4295-A1FD-E30E4AD8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147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Outras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CDBE1F-DBA6-4C10-9782-F5DCFCC0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43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1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0FEC3C-39E9-4310-92B5-D8C328DF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147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362"/>
                </a:solidFill>
              </a:defRPr>
            </a:pPr>
            <a:r>
              <a:rPr sz="675" b="1">
                <a:solidFill>
                  <a:srgbClr val="666362"/>
                </a:solidFill>
              </a:rPr>
              <a:t>Saída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6293E9-8D49-4D8A-AE80-E728BB56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1908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8DA67F-7D14-44C4-B34E-8D66A728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Tempo por bloco - por loja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1FA599-27BF-4B0C-BADC-503CE61D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0312FA-ECF2-46F1-A9BE-3E4A0D01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Entrada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FCBB24-55C3-4B6F-8866-E91EF7AA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52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45 min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7827DF-070C-4B4F-9243-75040919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Abertura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9A7DFB-ABEA-4F2B-AC8A-7D77F860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81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38 min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9DD8F8-9C82-4922-B4F2-0A11BEC4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08050B-CFC5-404E-A555-36B12134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Estoque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DB3DED-CF42-4176-BFD4-6A41DF77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10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33 min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1CE1B4-4681-4051-AC7C-695F64C2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Check Out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742D97-5A38-46F2-BDDC-E38143BA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387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34 min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268B923-659D-4AB7-9246-712D35C9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141234-89B5-434D-85F1-15242E74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Natural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EF4559-F05E-4DE1-A0A0-6D27C484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673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47 min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1ABC45F-70D9-4F39-8600-CD7DDE60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Extra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7FFA8D-F30D-4124-9CDC-FA1B38A5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95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55 min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2065E1-F04F-4580-BA54-F7FCFC3C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36A6B9E-50D5-40A9-A69E-54C156C6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Outras Atividades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CD438B0-1720-4F96-8F90-35C9B3DE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524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1h57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D667B20-AA86-4949-AB13-32CDB6B3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53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Saída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0F0C0A1-3CBA-417B-8F89-7FAC4D06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753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14 min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91F4948-562F-40ED-8B13-2C124A5E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67125"/>
            <a:ext cx="31908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3A30016-8B07-4962-B228-8D621CC0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481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Jornada de 8h projetada | 1,3 lojas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0A597E-944E-4AEC-9C8A-819432D6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B6F284E-68A8-48C1-B8F5-EF8C8760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52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Entrada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0BC79BD-02C6-458E-9ED5-13E6C14F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57 min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284EC77-6AD4-4895-8EA5-8F1F4088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81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Abertura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8799F02-F6B8-4260-ADFC-4B84FA5B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47 min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67CEF87-AECA-44B7-9128-3D0D5438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720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6FB3316-076A-40CD-9448-464B8A35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10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Estoque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A57BB21-2B87-45D4-B424-63499960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0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41 min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9DC3CF3-78D7-4E1E-9055-1752683C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387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Check Out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61C3D27-CF79-4827-9731-AB0DA0F5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87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42 min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9E28D29-70C9-426F-8E05-345EBC52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292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D14CEDF-5BB1-4754-95CD-69BC1B9E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673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Natural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DEE54A6-86B4-4FD0-BB6C-84943C39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59 min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F07A5BC-5C17-4E45-ACA5-E9420509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959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Ponto Extra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B3FA1D2-BF57-4595-8953-B1471325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1h09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6F68222-83BB-46B6-A83F-0EED6E9E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2781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5835AA4-C0FE-43B9-8DD7-47FD1CF1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245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Outras Atividades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C71642D-197C-4C99-9CAF-D92C53AF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2h27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1E3767F-8BF2-47B9-8BC7-F1312D19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53100"/>
            <a:ext cx="2066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2221"/>
                </a:solidFill>
              </a:defRPr>
            </a:pPr>
            <a:r>
              <a:rPr sz="825" b="0">
                <a:solidFill>
                  <a:srgbClr val="242221"/>
                </a:solidFill>
              </a:rPr>
              <a:t>Saída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FF36E61-A7A9-4D62-8A96-FD06F3E3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53100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18 min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F59B427-2AEC-490B-AF2F-86A3A08F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67125"/>
            <a:ext cx="4000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7D6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4E2E45E-83C6-4932-BB36-F702B600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48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221"/>
                </a:solidFill>
              </a:defRPr>
            </a:pPr>
            <a:r>
              <a:rPr sz="1200" b="1">
                <a:solidFill>
                  <a:srgbClr val="242221"/>
                </a:solidFill>
              </a:rPr>
              <a:t>Movimentos mais caros por loja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4C5CA80-17C1-481F-AFB2-96729B3E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0527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Tratamento de divergências (estoque/preço/validade)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682D5F7-76CD-44BA-9E6C-2FA4ECBA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Outras Atividades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0EDCFD5-3211-4AC0-A538-1C6C2ACF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433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75 min | 19,6%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3D18B95-49B8-4AE6-AAE9-08C94570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256D87D-BCEE-4C4F-81AA-336E2E1F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9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Passar por todas as categorias puxando frentes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CEA8A0E-8C5E-44A3-929A-F7DC7430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Abertura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4FF50CC-EC13-4AD8-B1EB-F9D255E6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4577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29 min | 7,4%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A901CD6-7805-455B-979C-EE7DC838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95825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019BB5B-3621-4C4C-B802-45B271B7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3392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Localizar o setor / estoque / responsável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D01064A-5514-4279-BAE1-96CB9055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7680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Entrada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9A68C91-B85C-4ABD-99EC-72AF3067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7202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25 min | 6,6%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E907E41-E18C-4CC3-9E82-F0F65D3E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1015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395A69E-8D9F-40CD-8A14-692748C6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482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Leitura de loja (checklist / auditoria)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4E038DC-01DC-4752-8CD0-CF3335CD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9112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Outras Atividades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99ABC5A-3545-4B79-A5E4-14FB2EB6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08635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22 min | 5,7%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24E8CF8-BB8A-400D-9575-825EC830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24475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CD38DC0-25AC-4E2B-9435-79E254C4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62575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Organização / arrumação do estoque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EBCC02A-8ECB-498C-B677-C20E1D68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05450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Estoque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ABC63A4-D60D-4854-8AC1-65EE7C55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006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20 min | 5,2%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4885F1E-9B74-47A1-989A-60027C58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38800"/>
            <a:ext cx="3562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3DC3098-272D-4F6C-93FF-598D5385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769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2221"/>
                </a:solidFill>
              </a:defRPr>
            </a:pPr>
            <a:r>
              <a:rPr sz="825" b="1">
                <a:solidFill>
                  <a:srgbClr val="242221"/>
                </a:solidFill>
              </a:rPr>
              <a:t>Guardar pertences / retirar equipamentos / EPIs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F0E2FA4-21B3-49D1-A9AC-4E42B94B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19775"/>
            <a:ext cx="2190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6362"/>
                </a:solidFill>
              </a:defRPr>
            </a:pPr>
            <a:r>
              <a:rPr sz="675" b="0">
                <a:solidFill>
                  <a:srgbClr val="666362"/>
                </a:solidFill>
              </a:rPr>
              <a:t>Entrada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48AE647-6A78-4C87-BA2B-699D9720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7150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E0C2F"/>
                </a:solidFill>
              </a:defRPr>
            </a:pPr>
            <a:r>
              <a:rPr sz="750" b="1">
                <a:solidFill>
                  <a:srgbClr val="DE0C2F"/>
                </a:solidFill>
              </a:rPr>
              <a:t>18 min | 4,8%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90C8F1B-48F2-4296-A197-1475CBD8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Projeção em 8h = 480 min ÷ tempo médio por loja. É uma referência aritmética; não substitui a leitura de rota e deslocamento entre lojas.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D287186-B233-4598-BD38-A54E9D7B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0130287-FD6A-439D-9BF2-CE198306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SPOT × P&amp;G  |  Pesquisa de tempos e movimentos em loja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5BBE7D6-6755-43C9-818D-BFD29128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E0C2F"/>
                </a:solidFill>
              </a:defRPr>
            </a:pPr>
            <a:r>
              <a:rPr sz="825" b="1">
                <a:solidFill>
                  <a:srgbClr val="DE0C2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546666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86FEFC-FBDD-49F5-9BA7-55DB2955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0C2F"/>
                </a:solidFill>
              </a:defRPr>
            </a:pPr>
            <a:r>
              <a:rPr sz="900" b="1">
                <a:solidFill>
                  <a:srgbClr val="DE0C2F"/>
                </a:solidFill>
              </a:rPr>
              <a:t>INSIGHTS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71CEB-1741-4EC9-BF8D-D63D8F12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221"/>
                </a:solidFill>
              </a:defRPr>
            </a:pPr>
            <a:r>
              <a:rPr sz="2325" b="1">
                <a:solidFill>
                  <a:srgbClr val="242221"/>
                </a:solidFill>
              </a:rPr>
              <a:t>A pesquisa evidencia onde aprofundar a conversa por canal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74EBD-1E64-4E3A-970F-ACBEAD96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362"/>
                </a:solidFill>
              </a:defRPr>
            </a:pPr>
            <a:r>
              <a:rPr sz="1200" b="0">
                <a:solidFill>
                  <a:srgbClr val="666362"/>
                </a:solidFill>
              </a:rPr>
              <a:t>Os insights abaixo são leituras descritivas das fichas; não são metas de produtividade.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A07A1-EBCA-4B2F-8C43-124625FE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85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6EB2B-7FE7-41D6-A013-BCFD5FFB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33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3522C-7DEA-4386-AA5B-4FC1B6D4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DBC1B-7571-45BB-971B-9DE161EA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41F36-6DDF-4168-83F5-8E483876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0025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221"/>
                </a:solidFill>
              </a:defRPr>
            </a:pPr>
            <a:r>
              <a:rPr sz="1425" b="1">
                <a:solidFill>
                  <a:srgbClr val="242221"/>
                </a:solidFill>
              </a:rPr>
              <a:t>Busca de itens no estoque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089DA-5330-4FB3-8368-2ECA61FE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764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2221"/>
                </a:solidFill>
              </a:defRPr>
            </a:pPr>
            <a:r>
              <a:rPr sz="1200" b="0">
                <a:solidFill>
                  <a:srgbClr val="242221"/>
                </a:solidFill>
              </a:rPr>
              <a:t>Aparece entre os movimentos mais caros em C&amp;C, NMR, GMR, HFS, CLUB e LASA.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90FB1-4033-46A3-9BB5-B5C776F0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45027-5EA8-4B21-8DB6-68BA5290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82FF9-8A0D-402D-A908-6B606B21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A3CF2-2010-43B3-8AE9-E2CA2B97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0035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221"/>
                </a:solidFill>
              </a:defRPr>
            </a:pPr>
            <a:r>
              <a:rPr sz="1425" b="1">
                <a:solidFill>
                  <a:srgbClr val="242221"/>
                </a:solidFill>
              </a:rPr>
              <a:t>Deslocamento interno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153C01-D847-4807-9D41-A060D6D1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765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2221"/>
                </a:solidFill>
              </a:defRPr>
            </a:pPr>
            <a:r>
              <a:rPr sz="1200" b="0">
                <a:solidFill>
                  <a:srgbClr val="242221"/>
                </a:solidFill>
              </a:rPr>
              <a:t>É o movimento mais caro no GMR e aparece entre os principais no DPP e LASA.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8323C-DDBC-4062-A393-81880A38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AE6CF-6530-460D-8710-ABCB46D3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F78A1-32FA-4E6F-99B2-EA5CA429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90075-9AEB-4376-ADE0-653D50C0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045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221"/>
                </a:solidFill>
              </a:defRPr>
            </a:pPr>
            <a:r>
              <a:rPr sz="1425" b="1">
                <a:solidFill>
                  <a:srgbClr val="242221"/>
                </a:solidFill>
              </a:rPr>
              <a:t>Entrada e burocracia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85831B-FF90-4F42-84B4-AF040708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766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2221"/>
                </a:solidFill>
              </a:defRPr>
            </a:pPr>
            <a:r>
              <a:rPr sz="1200" b="0">
                <a:solidFill>
                  <a:srgbClr val="242221"/>
                </a:solidFill>
              </a:rPr>
              <a:t>DPP, HFS, CLUB e Perfumaria têm tempos relevantes em Entrada.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19CAD-931F-4686-BE0E-CE42A29C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A9661-9541-4B65-A447-E8BE6C17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609F0D-AABC-4803-AFC4-330E3CA7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D6E6EC-F1AD-4A44-AEA6-EF380835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0055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221"/>
                </a:solidFill>
              </a:defRPr>
            </a:pPr>
            <a:r>
              <a:rPr sz="1425" b="1">
                <a:solidFill>
                  <a:srgbClr val="242221"/>
                </a:solidFill>
              </a:rPr>
              <a:t>Diferenças de contexto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EF46E7-CDB5-49B4-B117-CB7FC371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767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2221"/>
                </a:solidFill>
              </a:defRPr>
            </a:pPr>
            <a:r>
              <a:rPr sz="1200" b="0">
                <a:solidFill>
                  <a:srgbClr val="242221"/>
                </a:solidFill>
              </a:rPr>
              <a:t>Cada canal combina blocos e movimentos de forma distinta; por isso a ficha deve ser lida antes de definir ações.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7F9A52-2753-4D39-A141-6EA6A5F8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0D2E14-825E-4D06-AA13-511BC6C0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221"/>
                </a:solidFill>
              </a:defRPr>
            </a:pPr>
            <a:r>
              <a:rPr sz="1350" b="1">
                <a:solidFill>
                  <a:srgbClr val="242221"/>
                </a:solidFill>
              </a:rPr>
              <a:t>Próximo uso sugerido: escolher uma ou duas hipóteses por canal e validá-las no campo antes de alterar processos ou metas.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A46F00-E2ED-43C2-9DBE-23A678E9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60D29C-6DD3-49C4-8437-FC5036D7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SPOT × P&amp;G  |  Pesquisa de tempos e movimentos em loja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B9B6F6-8682-4112-AFE2-8D11E521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E0C2F"/>
                </a:solidFill>
              </a:defRPr>
            </a:pPr>
            <a:r>
              <a:rPr sz="825" b="1">
                <a:solidFill>
                  <a:srgbClr val="DE0C2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830926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48D3F9-F9B6-4FCF-A80D-EFEA024D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0C2F"/>
                </a:solidFill>
              </a:defRPr>
            </a:pPr>
            <a:r>
              <a:rPr sz="900" b="1">
                <a:solidFill>
                  <a:srgbClr val="DE0C2F"/>
                </a:solidFill>
              </a:rPr>
              <a:t>METODOLOGIA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A3145-EAE5-4561-B753-669B29DB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221"/>
                </a:solidFill>
              </a:defRPr>
            </a:pPr>
            <a:r>
              <a:rPr sz="2325" b="1">
                <a:solidFill>
                  <a:srgbClr val="242221"/>
                </a:solidFill>
              </a:rPr>
              <a:t>A pesquisa mede o tempo registrado em loja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4C322-33D2-4C62-84CE-5380EEA6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362"/>
                </a:solidFill>
              </a:defRPr>
            </a:pPr>
            <a:r>
              <a:rPr sz="1200" b="0">
                <a:solidFill>
                  <a:srgbClr val="666362"/>
                </a:solidFill>
              </a:rPr>
              <a:t>A leitura final considera o método, a cobertura e as limitações da coleta.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FA5DC-47C1-4E56-A583-B6E982A6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85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0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BFBDD-8276-44C6-998F-2E392A67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33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8A5C3-4A29-42CD-84E1-CC1CBBB8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095875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6D94C-CE3D-408B-92DF-36DB7F9F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221"/>
                </a:solidFill>
              </a:defRPr>
            </a:pPr>
            <a:r>
              <a:rPr sz="1500" b="1">
                <a:solidFill>
                  <a:srgbClr val="242221"/>
                </a:solidFill>
              </a:rPr>
              <a:t>Como os tempos foram tratados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49325-E64D-4ADA-B097-29022A8F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2221"/>
                </a:solidFill>
              </a:defRPr>
            </a:pPr>
            <a:r>
              <a:rPr sz="1200" b="0">
                <a:solidFill>
                  <a:srgbClr val="242221"/>
                </a:solidFill>
              </a:rPr>
              <a:t>• Registro de início e término por movimento.</a:t>
            </a:r>
          </a:p>
          <a:p xmlns:a="http://schemas.openxmlformats.org/drawingml/2006/main">
            <a:pPr algn="l">
              <a:defRPr sz="1200" b="0">
                <a:solidFill>
                  <a:srgbClr val="242221"/>
                </a:solidFill>
              </a:defRPr>
            </a:pPr>
            <a:r>
              <a:rPr sz="1200" b="0">
                <a:solidFill>
                  <a:srgbClr val="242221"/>
                </a:solidFill>
              </a:rPr>
              <a:t>• Atividades simultâneas alocadas minuto a minuto.</a:t>
            </a:r>
          </a:p>
          <a:p xmlns:a="http://schemas.openxmlformats.org/drawingml/2006/main">
            <a:pPr algn="l">
              <a:defRPr sz="1200" b="0">
                <a:solidFill>
                  <a:srgbClr val="242221"/>
                </a:solidFill>
              </a:defRPr>
            </a:pPr>
            <a:r>
              <a:rPr sz="1200" b="0">
                <a:solidFill>
                  <a:srgbClr val="242221"/>
                </a:solidFill>
              </a:rPr>
              <a:t>• A soma dos movimentos equivale ao tempo coberto na loja.</a:t>
            </a:r>
          </a:p>
          <a:p xmlns:a="http://schemas.openxmlformats.org/drawingml/2006/main">
            <a:pPr algn="l">
              <a:defRPr sz="1200" b="0">
                <a:solidFill>
                  <a:srgbClr val="242221"/>
                </a:solidFill>
              </a:defRPr>
            </a:pPr>
            <a:r>
              <a:rPr sz="1200" b="0">
                <a:solidFill>
                  <a:srgbClr val="242221"/>
                </a:solidFill>
              </a:rPr>
              <a:t>• Horários inválidos e atividades acima de 4h foram excluídos.</a:t>
            </a:r>
          </a:p>
          <a:p xmlns:a="http://schemas.openxmlformats.org/drawingml/2006/main">
            <a:pPr algn="l">
              <a:defRPr sz="1200" b="0">
                <a:solidFill>
                  <a:srgbClr val="242221"/>
                </a:solidFill>
              </a:defRPr>
            </a:pPr>
            <a:r>
              <a:rPr sz="1200" b="0">
                <a:solidFill>
                  <a:srgbClr val="242221"/>
                </a:solidFill>
              </a:rPr>
              <a:t>• Envios repetidos foram consolidados pela versão mais completa.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E240E-6161-4DE3-84F8-79BBF0CC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53149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5F465-CAE9-412D-A5C3-14F6905E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221"/>
                </a:solidFill>
              </a:defRPr>
            </a:pPr>
            <a:r>
              <a:rPr sz="1500" b="1">
                <a:solidFill>
                  <a:srgbClr val="242221"/>
                </a:solidFill>
              </a:rPr>
              <a:t>Limites de leitura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4ED75-9EC9-4875-A090-5714C0AE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81300"/>
            <a:ext cx="428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2221"/>
                </a:solidFill>
              </a:defRPr>
            </a:pPr>
            <a:r>
              <a:rPr sz="1200" b="0">
                <a:solidFill>
                  <a:srgbClr val="242221"/>
                </a:solidFill>
              </a:rPr>
              <a:t>• A pesquisa não mede o deslocamento completo do dia.</a:t>
            </a:r>
          </a:p>
          <a:p xmlns:a="http://schemas.openxmlformats.org/drawingml/2006/main">
            <a:pPr algn="l">
              <a:defRPr sz="1200" b="0">
                <a:solidFill>
                  <a:srgbClr val="242221"/>
                </a:solidFill>
              </a:defRPr>
            </a:pPr>
            <a:r>
              <a:rPr sz="1200" b="0">
                <a:solidFill>
                  <a:srgbClr val="242221"/>
                </a:solidFill>
              </a:rPr>
              <a:t>• Projeções em 8h não são metas operacionais.</a:t>
            </a:r>
          </a:p>
          <a:p xmlns:a="http://schemas.openxmlformats.org/drawingml/2006/main">
            <a:pPr algn="l">
              <a:defRPr sz="1200" b="0">
                <a:solidFill>
                  <a:srgbClr val="242221"/>
                </a:solidFill>
              </a:defRPr>
            </a:pPr>
            <a:r>
              <a:rPr sz="1200" b="0">
                <a:solidFill>
                  <a:srgbClr val="242221"/>
                </a:solidFill>
              </a:rPr>
              <a:t>• Diferenças entre canais podem refletir rede, loja, sortimento e região.</a:t>
            </a:r>
          </a:p>
          <a:p xmlns:a="http://schemas.openxmlformats.org/drawingml/2006/main">
            <a:pPr algn="l">
              <a:defRPr sz="1200" b="0">
                <a:solidFill>
                  <a:srgbClr val="242221"/>
                </a:solidFill>
              </a:defRPr>
            </a:pPr>
            <a:r>
              <a:rPr sz="1200" b="0">
                <a:solidFill>
                  <a:srgbClr val="242221"/>
                </a:solidFill>
              </a:rPr>
              <a:t>• Canais com poucas visitas devem ser usados como referência exploratória.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C81C2-EE65-4151-B5A0-AE6E92C0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362"/>
                </a:solidFill>
              </a:defRPr>
            </a:pPr>
            <a:r>
              <a:rPr sz="1050" b="0">
                <a:solidFill>
                  <a:srgbClr val="666362"/>
                </a:solidFill>
              </a:rPr>
              <a:t>Fonte: pesquisa de Tempos e Movimentos SPOT, de 11 a 18 de agosto de 2026.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A0913-AB4A-422E-AB84-A7838935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9BC6A-F1A0-40B1-9FDE-DA97768D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362"/>
                </a:solidFill>
              </a:defRPr>
            </a:pPr>
            <a:r>
              <a:rPr sz="750" b="0">
                <a:solidFill>
                  <a:srgbClr val="666362"/>
                </a:solidFill>
              </a:rPr>
              <a:t>SPOT × P&amp;G  |  Pesquisa de tempos e movimentos em loja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EAB9C-0E6A-4C48-AEE1-06F29352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E0C2F"/>
                </a:solidFill>
              </a:defRPr>
            </a:pPr>
            <a:r>
              <a:rPr sz="825" b="1">
                <a:solidFill>
                  <a:srgbClr val="DE0C2F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75275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2026-08-19T19:25:38.2450000Z</dcterms:created>
  <dcterms:modified xsi:type="dcterms:W3CDTF">2026-08-19T19:25:38.2460000Z</dcterms:modified>
</coreProperties>
</file>