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do tempo</c:v>
                </c:pt>
              </c:strCache>
            </c:strRef>
          </c:tx>
          <c:dPt>
            <c:idx val="0"/>
            <c:spPr>
              <a:solidFill>
                <a:srgbClr val="2F6B4F"/>
              </a:solidFill>
            </c:spPr>
          </c:dPt>
          <c:dPt>
            <c:idx val="1"/>
            <c:spPr>
              <a:solidFill>
                <a:srgbClr val="2C7391"/>
              </a:solidFill>
            </c:spPr>
          </c:dPt>
          <c:dPt>
            <c:idx val="2"/>
            <c:spPr>
              <a:solidFill>
                <a:srgbClr val="B85042"/>
              </a:solidFill>
            </c:spPr>
          </c:dPt>
          <c:dPt>
            <c:idx val="3"/>
            <c:spPr>
              <a:solidFill>
                <a:srgbClr val="C89A3C"/>
              </a:solidFill>
            </c:spPr>
          </c:dPt>
          <c:cat>
            <c:strRef>
              <c:f>Sheet1!$A$2:$A$5</c:f>
              <c:strCache>
                <c:ptCount val="4"/>
                <c:pt idx="0">
                  <c:v>Execução</c:v>
                </c:pt>
                <c:pt idx="1">
                  <c:v>Apoio e análise</c:v>
                </c:pt>
                <c:pt idx="2">
                  <c:v>Deslocamento e busca</c:v>
                </c:pt>
                <c:pt idx="3">
                  <c:v>Espera e burocracia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0.409</c:v>
                </c:pt>
                <c:pt idx="1">
                  <c:v>0.293</c:v>
                </c:pt>
                <c:pt idx="2">
                  <c:v>0.244</c:v>
                </c:pt>
                <c:pt idx="3">
                  <c:v>0.054000000000000006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 b="1">
                  <a:solidFill>
                    <a:srgbClr val="14181D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Execução</c:v>
                </c:pt>
              </c:strCache>
            </c:strRef>
          </c:tx>
          <c:dPt>
            <c:idx val="0"/>
            <c:spPr>
              <a:solidFill>
                <a:srgbClr val="123A4D"/>
              </a:solidFill>
            </c:spPr>
          </c:dPt>
          <c:dPt>
            <c:idx val="1"/>
            <c:spPr>
              <a:solidFill>
                <a:srgbClr val="2C7391"/>
              </a:solidFill>
            </c:spPr>
          </c:dPt>
          <c:dPt>
            <c:idx val="2"/>
            <c:spPr>
              <a:solidFill>
                <a:srgbClr val="7DB0C1"/>
              </a:solidFill>
            </c:spPr>
          </c:dPt>
          <c:dPt>
            <c:idx val="3"/>
            <c:spPr>
              <a:solidFill>
                <a:srgbClr val="B85042"/>
              </a:solidFill>
            </c:spPr>
          </c:dPt>
          <c:dPt>
            <c:idx val="4"/>
            <c:spPr>
              <a:solidFill>
                <a:srgbClr val="A9CBD6"/>
              </a:solidFill>
            </c:spPr>
          </c:dPt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HFS</c:v>
                </c:pt>
                <c:pt idx="3">
                  <c:v>GMR</c:v>
                </c:pt>
                <c:pt idx="4">
                  <c:v>DPP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0.6666666666666666</c:v>
                </c:pt>
                <c:pt idx="1">
                  <c:v>0.6352583586626139</c:v>
                </c:pt>
                <c:pt idx="2">
                  <c:v>0.4537037037037037</c:v>
                </c:pt>
                <c:pt idx="3">
                  <c:v>0.43137254901960786</c:v>
                </c:pt>
                <c:pt idx="4">
                  <c:v>0.3779527559055118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300" b="1">
                  <a:solidFill>
                    <a:srgbClr val="14181D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Entrada</c:v>
                </c:pt>
              </c:strCache>
            </c:strRef>
          </c:tx>
          <c:spPr>
            <a:solidFill>
              <a:srgbClr val="123A4D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</c:v>
                </c:pt>
                <c:pt idx="1">
                  <c:v>9</c:v>
                </c:pt>
                <c:pt idx="2">
                  <c:v>32</c:v>
                </c:pt>
                <c:pt idx="3">
                  <c:v>34</c:v>
                </c:pt>
                <c:pt idx="4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Abertura</c:v>
                </c:pt>
              </c:strCache>
            </c:strRef>
          </c:tx>
          <c:spPr>
            <a:solidFill>
              <a:srgbClr val="2C7391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</c:v>
                </c:pt>
                <c:pt idx="1">
                  <c:v>50</c:v>
                </c:pt>
                <c:pt idx="2">
                  <c:v>40</c:v>
                </c:pt>
                <c:pt idx="3">
                  <c:v>42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Estoque</c:v>
                </c:pt>
              </c:strCache>
            </c:strRef>
          </c:tx>
          <c:spPr>
            <a:solidFill>
              <a:srgbClr val="7DB0C1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41</c:v>
                </c:pt>
                <c:pt idx="1">
                  <c:v>30</c:v>
                </c:pt>
                <c:pt idx="2">
                  <c:v>32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Check Out</c:v>
                </c:pt>
              </c:strCache>
            </c:strRef>
          </c:tx>
          <c:spPr>
            <a:solidFill>
              <a:srgbClr val="B85042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</c:v>
                </c:pt>
                <c:pt idx="1">
                  <c:v>31</c:v>
                </c:pt>
                <c:pt idx="2">
                  <c:v>19</c:v>
                </c:pt>
                <c:pt idx="3">
                  <c:v>27</c:v>
                </c:pt>
                <c:pt idx="4">
                  <c:v>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Ponto Natural</c:v>
                </c:pt>
              </c:strCache>
            </c:strRef>
          </c:tx>
          <c:spPr>
            <a:solidFill>
              <a:srgbClr val="A9CBD6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197</c:v>
                </c:pt>
                <c:pt idx="1">
                  <c:v>154</c:v>
                </c:pt>
                <c:pt idx="2">
                  <c:v>96</c:v>
                </c:pt>
                <c:pt idx="3">
                  <c:v>68</c:v>
                </c:pt>
                <c:pt idx="4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Ponto Extra</c:v>
                </c:pt>
              </c:strCache>
            </c:strRef>
          </c:tx>
          <c:spPr>
            <a:solidFill>
              <a:srgbClr val="4A92AA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46</c:v>
                </c:pt>
                <c:pt idx="1">
                  <c:v>24</c:v>
                </c:pt>
                <c:pt idx="2">
                  <c:v>17</c:v>
                </c:pt>
                <c:pt idx="3">
                  <c:v>3</c:v>
                </c:pt>
                <c:pt idx="4">
                  <c:v>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Outras Atividades</c:v>
                </c:pt>
              </c:strCache>
            </c:strRef>
          </c:tx>
          <c:spPr>
            <a:solidFill>
              <a:srgbClr val="CBE0E6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34</c:v>
                </c:pt>
                <c:pt idx="1">
                  <c:v>25</c:v>
                </c:pt>
                <c:pt idx="2">
                  <c:v>59</c:v>
                </c:pt>
                <c:pt idx="3">
                  <c:v>25</c:v>
                </c:pt>
                <c:pt idx="4">
                  <c:v>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Saída</c:v>
                </c:pt>
              </c:strCache>
            </c:strRef>
          </c:tx>
          <c:spPr>
            <a:solidFill>
              <a:srgbClr val="97A9B4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14</c:v>
                </c:pt>
                <c:pt idx="1">
                  <c:v>6</c:v>
                </c:pt>
                <c:pt idx="2">
                  <c:v>11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gapWidth val="7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r>
                  <a:rPr sz="1000">
                    <a:solidFill>
                      <a:srgbClr val="6D7887"/>
                    </a:solidFill>
                  </a:rPr>
                  <a:t>minutos por visita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 em 8h</c:v>
                </c:pt>
              </c:strCache>
            </c:strRef>
          </c:tx>
          <c:dPt>
            <c:idx val="0"/>
            <c:spPr>
              <a:solidFill>
                <a:srgbClr val="123A4D"/>
              </a:solidFill>
            </c:spPr>
          </c:dPt>
          <c:dPt>
            <c:idx val="1"/>
            <c:spPr>
              <a:solidFill>
                <a:srgbClr val="123A4D"/>
              </a:solidFill>
            </c:spPr>
          </c:dPt>
          <c:dPt>
            <c:idx val="2"/>
            <c:spPr>
              <a:solidFill>
                <a:srgbClr val="123A4D"/>
              </a:solidFill>
            </c:spPr>
          </c:dPt>
          <c:dPt>
            <c:idx val="3"/>
            <c:spPr>
              <a:solidFill>
                <a:srgbClr val="123A4D"/>
              </a:solidFill>
            </c:spPr>
          </c:dPt>
          <c:dPt>
            <c:idx val="4"/>
            <c:spPr>
              <a:solidFill>
                <a:srgbClr val="123A4D"/>
              </a:solidFill>
            </c:spPr>
          </c:dPt>
          <c:dPt>
            <c:idx val="5"/>
            <c:spPr>
              <a:solidFill>
                <a:srgbClr val="123A4D"/>
              </a:solidFill>
            </c:spPr>
          </c:dPt>
          <c:dPt>
            <c:idx val="6"/>
            <c:spPr>
              <a:solidFill>
                <a:srgbClr val="123A4D"/>
              </a:solidFill>
            </c:spPr>
          </c:dPt>
          <c:dPt>
            <c:idx val="7"/>
            <c:spPr>
              <a:solidFill>
                <a:srgbClr val="123A4D"/>
              </a:solidFill>
            </c:spPr>
          </c:dPt>
          <c:dPt>
            <c:idx val="8"/>
            <c:spPr>
              <a:solidFill>
                <a:srgbClr val="123A4D"/>
              </a:solidFill>
            </c:spPr>
          </c:dPt>
          <c:dPt>
            <c:idx val="9"/>
            <c:spPr>
              <a:solidFill>
                <a:srgbClr val="123A4D"/>
              </a:solidFill>
            </c:spPr>
          </c:dPt>
          <c:cat>
            <c:strRef>
              <c:f>Sheet1!$A$2:$A$11</c:f>
              <c:strCache>
                <c:ptCount val="10"/>
                <c:pt idx="0">
                  <c:v>Identificar pontos de atenção / rupturas</c:v>
                </c:pt>
                <c:pt idx="1">
                  <c:v>Chegada à loja (portaria/entrada)</c:v>
                </c:pt>
                <c:pt idx="2">
                  <c:v>Validar estoque virtual</c:v>
                </c:pt>
                <c:pt idx="3">
                  <c:v>Passar por todas as categorias puxando frent…</c:v>
                </c:pt>
                <c:pt idx="4">
                  <c:v>Deslocamento interno dentro da loja</c:v>
                </c:pt>
                <c:pt idx="5">
                  <c:v>Limpeza antes do abastecimento</c:v>
                </c:pt>
                <c:pt idx="6">
                  <c:v>Leitura de loja (checklist / auditoria)</c:v>
                </c:pt>
                <c:pt idx="7">
                  <c:v>Precificar todos os itens</c:v>
                </c:pt>
                <c:pt idx="8">
                  <c:v>Buscar itens faltantes no estoque</c:v>
                </c:pt>
                <c:pt idx="9">
                  <c:v>Abastecimento e organização (Layout/KBDs etc)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14.961822387533276</c:v>
                </c:pt>
                <c:pt idx="1">
                  <c:v>17.280406773298665</c:v>
                </c:pt>
                <c:pt idx="2">
                  <c:v>20.056047581666054</c:v>
                </c:pt>
                <c:pt idx="3">
                  <c:v>20.34193218846537</c:v>
                </c:pt>
                <c:pt idx="4">
                  <c:v>25.272107251467222</c:v>
                </c:pt>
                <c:pt idx="5">
                  <c:v>25.471060400060228</c:v>
                </c:pt>
                <c:pt idx="6">
                  <c:v>29.880636504591347</c:v>
                </c:pt>
                <c:pt idx="7">
                  <c:v>30.33673419511806</c:v>
                </c:pt>
                <c:pt idx="8">
                  <c:v>41.4097969734244</c:v>
                </c:pt>
                <c:pt idx="9">
                  <c:v>60.78918953970692</c:v>
                </c:pt>
              </c:numCache>
            </c:numRef>
          </c:val>
        </c:ser>
        <c:dLbls>
          <c:numFmt formatCode="0&quot; min&quot;" sourceLinked="0"/>
          <c:txPr>
            <a:bodyPr/>
            <a:lstStyle/>
            <a:p>
              <a:pPr>
                <a:defRPr sz="1100" b="1">
                  <a:solidFill>
                    <a:srgbClr val="14181D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Mais rápida</c:v>
                </c:pt>
              </c:strCache>
            </c:strRef>
          </c:tx>
          <c:spPr>
            <a:solidFill>
              <a:srgbClr val="A9CBD6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175.0</c:v>
                </c:pt>
                <c:pt idx="1">
                  <c:v>119.0</c:v>
                </c:pt>
                <c:pt idx="2">
                  <c:v>180.0</c:v>
                </c:pt>
                <c:pt idx="3">
                  <c:v>124.0</c:v>
                </c:pt>
                <c:pt idx="4">
                  <c:v>52.0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Mediana</c:v>
                </c:pt>
              </c:strCache>
            </c:strRef>
          </c:tx>
          <c:spPr>
            <a:solidFill>
              <a:srgbClr val="2C7391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430.0</c:v>
                </c:pt>
                <c:pt idx="1">
                  <c:v>294.0</c:v>
                </c:pt>
                <c:pt idx="2">
                  <c:v>252.0</c:v>
                </c:pt>
                <c:pt idx="3">
                  <c:v>198.0</c:v>
                </c:pt>
                <c:pt idx="4">
                  <c:v>113.5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Mais lenta</c:v>
                </c:pt>
              </c:strCache>
            </c:strRef>
          </c:tx>
          <c:spPr>
            <a:solidFill>
              <a:srgbClr val="123A4D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546.0</c:v>
                </c:pt>
                <c:pt idx="1">
                  <c:v>525.0</c:v>
                </c:pt>
                <c:pt idx="2">
                  <c:v>614.0</c:v>
                </c:pt>
                <c:pt idx="3">
                  <c:v>363.0</c:v>
                </c:pt>
                <c:pt idx="4">
                  <c:v>354.0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14181D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Projeção pelo tempo medido</c:v>
                </c:pt>
              </c:strCache>
            </c:strRef>
          </c:tx>
          <c:spPr>
            <a:solidFill>
              <a:srgbClr val="123A4D"/>
            </a:solidFill>
          </c:spPr>
          <c:cat>
            <c:strRef>
              <c:f>Sheet1!$A$2:$A$6</c:f>
              <c:strCache>
                <c:ptCount val="5"/>
                <c:pt idx="0">
                  <c:v>DPP</c:v>
                </c:pt>
                <c:pt idx="1">
                  <c:v>HFS</c:v>
                </c:pt>
                <c:pt idx="2">
                  <c:v>GMR</c:v>
                </c:pt>
                <c:pt idx="3">
                  <c:v>C&amp;C</c:v>
                </c:pt>
                <c:pt idx="4">
                  <c:v>NMR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3.8</c:v>
                </c:pt>
                <c:pt idx="1">
                  <c:v>2.2</c:v>
                </c:pt>
                <c:pt idx="2">
                  <c:v>1.6</c:v>
                </c:pt>
                <c:pt idx="3">
                  <c:v>1.5</c:v>
                </c:pt>
                <c:pt idx="4">
                  <c:v>1.1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Rota declarada pelo campo</c:v>
                </c:pt>
              </c:strCache>
            </c:strRef>
          </c:tx>
          <c:spPr>
            <a:solidFill>
              <a:srgbClr val="7DB0C1"/>
            </a:solidFill>
          </c:spPr>
          <c:cat>
            <c:strRef>
              <c:f>Sheet1!$A$2:$A$6</c:f>
              <c:strCache>
                <c:ptCount val="5"/>
                <c:pt idx="0">
                  <c:v>DPP</c:v>
                </c:pt>
                <c:pt idx="1">
                  <c:v>HFS</c:v>
                </c:pt>
                <c:pt idx="2">
                  <c:v>GMR</c:v>
                </c:pt>
                <c:pt idx="3">
                  <c:v>C&amp;C</c:v>
                </c:pt>
                <c:pt idx="4">
                  <c:v>NMR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2.0</c:v>
                </c:pt>
                <c:pt idx="2">
                  <c:v>1.0</c:v>
                </c:pt>
                <c:pt idx="3">
                  <c:v>1.0</c:v>
                </c:pt>
                <c:pt idx="4">
                  <c:v>1.0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 b="1">
                  <a:solidFill>
                    <a:srgbClr val="14181D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A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7DB0C1"/>
                </a:solidFill>
                <a:latin typeface="Calibri"/>
              </a:rPr>
              <a:t>ESTUDO DE TEMPOS E MOVIMENTOS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Cambria"/>
              </a:rPr>
              <a:t>Como o promotor usa</a:t>
            </a:r>
          </a:p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Cambria"/>
              </a:rPr>
              <a:t>a jornada de 8 horas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434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A9CBD6"/>
                </a:solidFill>
                <a:latin typeface="Calibri"/>
              </a:rPr>
              <a:t>Diagnóstico por canal · Operação de merchandising P&amp;G / SPOT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DB0C1"/>
                </a:solidFill>
                <a:latin typeface="Calibri"/>
              </a:rPr>
              <a:t>Coleta em campo  ·  11/08/2026 a 18/08/2026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A jornada em números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O retrato do tempo dentro da loja.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10561320" cy="1737360"/>
          </a:xfrm>
          <a:prstGeom prst="roundRect">
            <a:avLst>
              <a:gd name="adj" fmla="val 5000"/>
            </a:avLst>
          </a:prstGeom>
          <a:solidFill>
            <a:srgbClr val="E3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95728"/>
            <a:ext cx="1920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123A4D"/>
                </a:solidFill>
                <a:latin typeface="Cambria"/>
              </a:rPr>
              <a:t>3h56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D7887"/>
                </a:solidFill>
                <a:latin typeface="Calibri"/>
              </a:rPr>
              <a:t>tempo por loja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81528" y="2395728"/>
            <a:ext cx="1920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123A4D"/>
                </a:solidFill>
                <a:latin typeface="Cambria"/>
              </a:rPr>
              <a:t>41%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81528" y="310896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D7887"/>
                </a:solidFill>
                <a:latin typeface="Calibri"/>
              </a:rPr>
              <a:t>agrega valor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7216" y="2395728"/>
            <a:ext cx="1920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123A4D"/>
                </a:solidFill>
                <a:latin typeface="Cambria"/>
              </a:rPr>
              <a:t>1h57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216" y="310896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D7887"/>
                </a:solidFill>
                <a:latin typeface="Calibri"/>
              </a:rPr>
              <a:t>deslocamento e busca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4" y="2395728"/>
            <a:ext cx="1920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123A4D"/>
                </a:solidFill>
                <a:latin typeface="Cambria"/>
              </a:rPr>
              <a:t>61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4" y="310896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D7887"/>
                </a:solidFill>
                <a:latin typeface="Calibri"/>
              </a:rPr>
              <a:t>maior movimento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08592" y="2395728"/>
            <a:ext cx="1920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123A4D"/>
                </a:solidFill>
                <a:latin typeface="Cambria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08592" y="310896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D7887"/>
                </a:solidFill>
                <a:latin typeface="Calibri"/>
              </a:rPr>
              <a:t>canais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51960"/>
            <a:ext cx="10561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123A4D"/>
                </a:solidFill>
                <a:latin typeface="Cambria"/>
              </a:rPr>
              <a:t>O que mais varia não é o promotor — é o canal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105613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Uma visita de DPP dura 127 minutos; uma de NMR, 423. São operações diferentes, com rotinas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diferentes, medidas com o mesmo instrumento. Por isso todo o diagnóstico é apresentado por canal: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uma média geral esconderia mais do que revela.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Tempo medido dentro da loja, em campo, na rotina real de trabalho.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Como o tempo foi medido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O método precisa lidar com atividades que acontecem ao mesmo tempo.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57400"/>
            <a:ext cx="5074920" cy="3566160"/>
          </a:xfrm>
          <a:prstGeom prst="roundRect">
            <a:avLst>
              <a:gd name="adj" fmla="val 5000"/>
            </a:avLst>
          </a:prstGeom>
          <a:solidFill>
            <a:srgbClr val="FB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B85042"/>
                </a:solidFill>
                <a:latin typeface="Calibri"/>
              </a:rPr>
              <a:t>O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88920"/>
            <a:ext cx="44348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O promotor atende duas ou três categorias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na mesma ida à gôndola e registra a mesma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janela de horário para cada uma.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Somar as durações declaradas infla o total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em cerca de 2,4 vezes — e os percentuais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passariam de 100%.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057400"/>
            <a:ext cx="5074920" cy="3566160"/>
          </a:xfrm>
          <a:prstGeom prst="roundRect">
            <a:avLst>
              <a:gd name="adj" fmla="val 5000"/>
            </a:avLst>
          </a:prstGeom>
          <a:solidFill>
            <a:srgbClr val="EE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33172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6B4F"/>
                </a:solidFill>
                <a:latin typeface="Calibri"/>
              </a:rPr>
              <a:t>A SOLUÇÃO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788920"/>
            <a:ext cx="44348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O tempo é alocado minuto a minuto.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Em cada minuto da visita, o tempo é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dividido entre as atividades ativas nele.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Dois movimentos em paralelo levam metade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do crédito cada. A soma fecha exatamente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o tempo real dentro da loja.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Excluídos: horários invertidos e atividades acima de 4 horas. Envios repetidos consolidados mantendo a versão mais completa.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Menos da metade do tempo em loja agrega valor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Execução = abastecer, precificar, limpar e montar. O resto sustenta a execução, mas não é ela.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2057400"/>
          <a:ext cx="594360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86600" y="2148840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23A4D"/>
                </a:solidFill>
                <a:latin typeface="Calibri"/>
              </a:rPr>
              <a:t>EXECUÇÃO (AGREGA VALOR)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47802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3h16 de uma jornada de 8 horas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3054096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23A4D"/>
                </a:solidFill>
                <a:latin typeface="Calibri"/>
              </a:rPr>
              <a:t>APOIO E ANÁLISE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3383279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2h20 de uma jornada de 8 horas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3959352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23A4D"/>
                </a:solidFill>
                <a:latin typeface="Calibri"/>
              </a:rPr>
              <a:t>DESLOCAMENTO E BUSCA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4288536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1h57 de uma jornada de 8 horas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486460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23A4D"/>
                </a:solidFill>
                <a:latin typeface="Calibri"/>
              </a:rPr>
              <a:t>ESPERA E BUROCRACIA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519379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0h25 de uma jornada de 8 horas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Percentuais sobre o tempo dentro da loja, média ponderada de todos os canais.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O canal define a rotina mais do que qualquer outro fator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Participação da execução em gôndola no tempo de visita, por canal.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2103120"/>
          <a:ext cx="1056132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257800"/>
            <a:ext cx="10561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A causa não é ritmo de trabalho: é o número de lojas. O DPP faz 4 lojas por dia e paga 4 vezes o custo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fixo de chegar, se cadastrar e se localizar. C&amp;C e NMR fazem 1 — diluem esse custo em uma visita longa.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Execução = Ponto Natural, Ponto Extra e Check 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A composição do tempo, canal a canal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Minutos médios por visita, por bloco de atividade.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2057400"/>
          <a:ext cx="1056132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Ponto Natural é o maior bloco em todos os canais.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Os movimentos que mais consomem a jornada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Os dez movimentos com maior peso, projetados em uma jornada de 8 horas.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2057400"/>
          <a:ext cx="1056132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Abastecimento e busca de itens no estoque somam 102 minutos da jornada.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Quase 2 horas por jornada andando e procurando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É a maior oportunidade isolada do estudo — e a mais acionável.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57400"/>
            <a:ext cx="3200400" cy="2834640"/>
          </a:xfrm>
          <a:prstGeom prst="roundRect">
            <a:avLst>
              <a:gd name="adj" fmla="val 5000"/>
            </a:avLst>
          </a:prstGeom>
          <a:solidFill>
            <a:srgbClr val="12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74320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Cambria"/>
              </a:rPr>
              <a:t>1h57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70332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A9CBD6"/>
                </a:solidFill>
                <a:latin typeface="Calibri"/>
              </a:rPr>
              <a:t>por jornada de 8 horas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A9CBD6"/>
                </a:solidFill>
                <a:latin typeface="Calibri"/>
              </a:rPr>
              <a:t>em deslocamento e busca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210312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4181D"/>
                </a:solidFill>
                <a:latin typeface="Calibri"/>
              </a:rPr>
              <a:t>Buscar itens faltantes no estoque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78440" y="210312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2C7391"/>
                </a:solidFill>
                <a:latin typeface="Calibri"/>
              </a:rPr>
              <a:t>41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670048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4181D"/>
                </a:solidFill>
                <a:latin typeface="Calibri"/>
              </a:rPr>
              <a:t>Deslocamento interno dentro da loja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2670048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2C7391"/>
                </a:solidFill>
                <a:latin typeface="Calibri"/>
              </a:rPr>
              <a:t>25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236976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4181D"/>
                </a:solidFill>
                <a:latin typeface="Calibri"/>
              </a:rPr>
              <a:t>Chegada à loja (portaria/entrada)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323697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2C7391"/>
                </a:solidFill>
                <a:latin typeface="Calibri"/>
              </a:rPr>
              <a:t>17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803904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4181D"/>
                </a:solidFill>
                <a:latin typeface="Calibri"/>
              </a:rPr>
              <a:t>Localizar produtos no estoque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38039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2C7391"/>
                </a:solidFill>
                <a:latin typeface="Calibri"/>
              </a:rPr>
              <a:t>10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4370832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4181D"/>
                </a:solidFill>
                <a:latin typeface="Calibri"/>
              </a:rPr>
              <a:t>Localizar o setor / estoque / responsável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78440" y="437083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2C7391"/>
                </a:solidFill>
                <a:latin typeface="Calibri"/>
              </a:rPr>
              <a:t>7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5074920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Buscar item no estoque e andar dentro da loja não agregam valor ao shopper, mas são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consequência de layout, de ruptura e de onde o estoque fica. São endereçáveis.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Classificação: deslocamento, busca e localização de produtos, em todos os blocos.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A mesma tarefa leva tempos muito diferentes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Dispersão do tempo de visita dentro de cada canal — quanto maior, menor a padronização.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2103120"/>
          <a:ext cx="1056132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303520"/>
            <a:ext cx="10561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No DPP, a visita mais lenta leva 6,8 vezes o tempo da mais rápida. Parte é porte de loja, mas a faixa é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larga demais para ser só isso — é onde um padrão de execução tem mais a ganhar.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Tempo total dentro da loja, por visita.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A rota que o tempo medido comporta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Quantas lojas cabem em 8 horas, segundo o tempo medido, contra a rota que o campo declara.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2103120"/>
          <a:ext cx="1056132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212080"/>
            <a:ext cx="10561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As duas leituras chegam ao mesmo lugar por caminhos independentes: o tempo medido dentro da loja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prevê o tamanho da rota que o campo declara. Mas nenhuma das duas inclui o trajeto entre lojas.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Projeção = 480 minutos ÷ tempo médio de visita. Não é meta operacional.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O trajeto entre lojas — primeira medição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Quanto custa o caminho até a loja, e quanto custa alongar uma rota.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4884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E3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23A4D"/>
                </a:solidFill>
                <a:latin typeface="Cambria"/>
              </a:rPr>
              <a:t>45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3756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4181D"/>
                </a:solidFill>
                <a:latin typeface="Calibri"/>
              </a:rPr>
              <a:t>De casa até a</a:t>
            </a:r>
          </a:p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4181D"/>
                </a:solidFill>
                <a:latin typeface="Calibri"/>
              </a:rPr>
              <a:t>primeira loja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0233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6D7887"/>
                </a:solidFill>
                <a:latin typeface="Calibri"/>
              </a:rPr>
              <a:t>8 medições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4884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E3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5146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23A4D"/>
                </a:solidFill>
                <a:latin typeface="Cambria"/>
              </a:rPr>
              <a:t>15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33756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4181D"/>
                </a:solidFill>
                <a:latin typeface="Calibri"/>
              </a:rPr>
              <a:t>Entre duas</a:t>
            </a:r>
          </a:p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4181D"/>
                </a:solidFill>
                <a:latin typeface="Calibri"/>
              </a:rPr>
              <a:t>lojas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0233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6D7887"/>
                </a:solidFill>
                <a:latin typeface="Calibri"/>
              </a:rPr>
              <a:t>5 medições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148840"/>
            <a:ext cx="3429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B85042"/>
                </a:solidFill>
                <a:latin typeface="Calibri"/>
              </a:rPr>
              <a:t>POR QUE IMPORTA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651760"/>
            <a:ext cx="34290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Cada loja a mais numa rota cobra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dois tempos: o da visita e o do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trajeto até ela.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O trajeto de casa é pago uma vez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por dia; o trajeto entre lojas se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multiplica.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37760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A diferença entre os dois trajetos é o dado útil: o deslocamento de casa é um custo fixo do dia,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enquanto o trajeto entre lojas é o que se multiplica a cada loja a mais na rota.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O trajeto entre lojas é o que se multiplica a cada loja a mais na rota.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Para onde olhar primeiro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Ordenado por tamanho da oportunidade e por facilidade de execução.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12140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23A4D"/>
                </a:solidFill>
                <a:latin typeface="Cambria"/>
              </a:rPr>
              <a:t>Atacar o tempo de busca no estoque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560320"/>
            <a:ext cx="9784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4181D"/>
                </a:solidFill>
                <a:latin typeface="Calibri"/>
              </a:rPr>
              <a:t>Buscar item faltante é o 2º maior movimento da jornada. Endereçamento e separação prévia atacam direto.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163824"/>
            <a:ext cx="502920" cy="502920"/>
          </a:xfrm>
          <a:prstGeom prst="ellipse">
            <a:avLst/>
          </a:prstGeom>
          <a:solidFill>
            <a:srgbClr val="2C73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182112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23A4D"/>
                </a:solidFill>
                <a:latin typeface="Cambria"/>
              </a:rPr>
              <a:t>Padronizar onde a variação é maior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621024"/>
            <a:ext cx="9784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4181D"/>
                </a:solidFill>
                <a:latin typeface="Calibri"/>
              </a:rPr>
              <a:t>A faixa entre a visita mais rápida e a mais lenta é ampla demais para ser só porte de loja. Um padrão por canal reduz a cauda.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224528"/>
            <a:ext cx="502920" cy="502920"/>
          </a:xfrm>
          <a:prstGeom prst="ellipse">
            <a:avLst/>
          </a:prstGeom>
          <a:solidFill>
            <a:srgbClr val="12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242816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23A4D"/>
                </a:solidFill>
                <a:latin typeface="Cambria"/>
              </a:rPr>
              <a:t>Tratar DPP como operação própria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681728"/>
            <a:ext cx="9784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4181D"/>
                </a:solidFill>
                <a:latin typeface="Calibri"/>
              </a:rPr>
              <a:t>Com 4 lojas por dia, o custo fixo de entrada pesa 4 vezes. Reduzir fricção de acesso vale mais nele do que em qualquer outro canal.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5285232"/>
            <a:ext cx="502920" cy="5029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303520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23A4D"/>
                </a:solidFill>
                <a:latin typeface="Cambria"/>
              </a:rPr>
              <a:t>Dimensionar a rota com o trajeto incluído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5742432"/>
            <a:ext cx="9784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4181D"/>
                </a:solidFill>
                <a:latin typeface="Calibri"/>
              </a:rPr>
              <a:t>Tempo de loja e trajeto já estão medidos. Cruzá-los por setor mostra quais rotas cabem na jornada e quais precisam ser redesenhadas.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As recomendações saem do que foi medido; o dimensionamento de ganho exige um piloto.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A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7DB0C1"/>
                </a:solidFill>
                <a:latin typeface="Calibri"/>
              </a:rPr>
              <a:t>PRÓXIMOS PASSOS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Cambria"/>
              </a:rPr>
              <a:t>Do diagnóstico à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BE0E6"/>
                </a:solidFill>
                <a:latin typeface="Calibri"/>
              </a:rPr>
              <a:t>O tempo da operação está medido, movimento a movimento, canal a canal. O próximo passo é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BE0E6"/>
                </a:solidFill>
                <a:latin typeface="Calibri"/>
              </a:rPr>
              <a:t>escolher onde atacar primeiro e testar em piloto controlado — o estudo dimensiona o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BE0E6"/>
                </a:solidFill>
                <a:latin typeface="Calibri"/>
              </a:rPr>
              <a:t>problema; o piloto dimensiona o ganho.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BE0E6"/>
                </a:solidFill>
                <a:latin typeface="Calibr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BE0E6"/>
                </a:solidFill>
                <a:latin typeface="Calibri"/>
              </a:rPr>
              <a:t>A medição continua rodando, então cada rodada de melhoria pode ser verificada com o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BE0E6"/>
                </a:solidFill>
                <a:latin typeface="Calibri"/>
              </a:rPr>
              <a:t>mesmo instrumento que produziu este diagnóstico.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DB0C1"/>
                </a:solidFill>
                <a:latin typeface="Calibri"/>
              </a:rPr>
              <a:t>Estudo de Tempos e Movimentos  ·  11/08/2026 a 18/08/2026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