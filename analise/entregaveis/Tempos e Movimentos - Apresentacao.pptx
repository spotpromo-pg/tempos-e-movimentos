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do tempo</c:v>
                </c:pt>
              </c:strCache>
            </c:strRef>
          </c:tx>
          <c:dPt>
            <c:idx val="0"/>
            <c:spPr>
              <a:solidFill>
                <a:srgbClr val="2F6B4F"/>
              </a:solidFill>
            </c:spPr>
          </c:dPt>
          <c:dPt>
            <c:idx val="1"/>
            <c:spPr>
              <a:solidFill>
                <a:srgbClr val="2C7391"/>
              </a:solidFill>
            </c:spPr>
          </c:dPt>
          <c:dPt>
            <c:idx val="2"/>
            <c:spPr>
              <a:solidFill>
                <a:srgbClr val="B85042"/>
              </a:solidFill>
            </c:spPr>
          </c:dPt>
          <c:dPt>
            <c:idx val="3"/>
            <c:spPr>
              <a:solidFill>
                <a:srgbClr val="C89A3C"/>
              </a:solidFill>
            </c:spPr>
          </c:dPt>
          <c:cat>
            <c:strRef>
              <c:f>Sheet1!$A$2:$A$5</c:f>
              <c:strCache>
                <c:ptCount val="4"/>
                <c:pt idx="0">
                  <c:v>Execução</c:v>
                </c:pt>
                <c:pt idx="1">
                  <c:v>Apoio e análise</c:v>
                </c:pt>
                <c:pt idx="2">
                  <c:v>Deslocamento e busca</c:v>
                </c:pt>
                <c:pt idx="3">
                  <c:v>Espera e burocracia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0.409</c:v>
                </c:pt>
                <c:pt idx="1">
                  <c:v>0.293</c:v>
                </c:pt>
                <c:pt idx="2">
                  <c:v>0.244</c:v>
                </c:pt>
                <c:pt idx="3">
                  <c:v>0.054000000000000006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 b="1">
                  <a:solidFill>
                    <a:srgbClr val="14181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Execução</c:v>
                </c:pt>
              </c:strCache>
            </c:strRef>
          </c:tx>
          <c:dPt>
            <c:idx val="0"/>
            <c:spPr>
              <a:solidFill>
                <a:srgbClr val="123A4D"/>
              </a:solidFill>
            </c:spPr>
          </c:dPt>
          <c:dPt>
            <c:idx val="1"/>
            <c:spPr>
              <a:solidFill>
                <a:srgbClr val="2C7391"/>
              </a:solidFill>
            </c:spPr>
          </c:dPt>
          <c:dPt>
            <c:idx val="2"/>
            <c:spPr>
              <a:solidFill>
                <a:srgbClr val="7DB0C1"/>
              </a:solidFill>
            </c:spPr>
          </c:dPt>
          <c:dPt>
            <c:idx val="3"/>
            <c:spPr>
              <a:solidFill>
                <a:srgbClr val="B85042"/>
              </a:solidFill>
            </c:spPr>
          </c:dPt>
          <c:dPt>
            <c:idx val="4"/>
            <c:spPr>
              <a:solidFill>
                <a:srgbClr val="A9CBD6"/>
              </a:solidFill>
            </c:spPr>
          </c:dPt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HFS</c:v>
                </c:pt>
                <c:pt idx="3">
                  <c:v>GMR</c:v>
                </c:pt>
                <c:pt idx="4">
                  <c:v>DPP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0.6666666666666666</c:v>
                </c:pt>
                <c:pt idx="1">
                  <c:v>0.6352583586626139</c:v>
                </c:pt>
                <c:pt idx="2">
                  <c:v>0.4537037037037037</c:v>
                </c:pt>
                <c:pt idx="3">
                  <c:v>0.43137254901960786</c:v>
                </c:pt>
                <c:pt idx="4">
                  <c:v>0.3779527559055118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 b="1">
                  <a:solidFill>
                    <a:srgbClr val="14181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Entrada</c:v>
                </c:pt>
              </c:strCache>
            </c:strRef>
          </c:tx>
          <c:spPr>
            <a:solidFill>
              <a:srgbClr val="123A4D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9</c:v>
                </c:pt>
                <c:pt idx="2">
                  <c:v>32</c:v>
                </c:pt>
                <c:pt idx="3">
                  <c:v>34</c:v>
                </c:pt>
                <c:pt idx="4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Abertura</c:v>
                </c:pt>
              </c:strCache>
            </c:strRef>
          </c:tx>
          <c:spPr>
            <a:solidFill>
              <a:srgbClr val="2C7391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</c:v>
                </c:pt>
                <c:pt idx="1">
                  <c:v>50</c:v>
                </c:pt>
                <c:pt idx="2">
                  <c:v>40</c:v>
                </c:pt>
                <c:pt idx="3">
                  <c:v>42</c:v>
                </c:pt>
                <c:pt idx="4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Estoque</c:v>
                </c:pt>
              </c:strCache>
            </c:strRef>
          </c:tx>
          <c:spPr>
            <a:solidFill>
              <a:srgbClr val="7DB0C1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41</c:v>
                </c:pt>
                <c:pt idx="1">
                  <c:v>30</c:v>
                </c:pt>
                <c:pt idx="2">
                  <c:v>32</c:v>
                </c:pt>
                <c:pt idx="3">
                  <c:v>13</c:v>
                </c:pt>
                <c:pt idx="4">
                  <c:v>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Check Out</c:v>
                </c:pt>
              </c:strCache>
            </c:strRef>
          </c:tx>
          <c:spPr>
            <a:solidFill>
              <a:srgbClr val="B85042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39</c:v>
                </c:pt>
                <c:pt idx="1">
                  <c:v>31</c:v>
                </c:pt>
                <c:pt idx="2">
                  <c:v>19</c:v>
                </c:pt>
                <c:pt idx="3">
                  <c:v>27</c:v>
                </c:pt>
                <c:pt idx="4">
                  <c:v>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Ponto Natural</c:v>
                </c:pt>
              </c:strCache>
            </c:strRef>
          </c:tx>
          <c:spPr>
            <a:solidFill>
              <a:srgbClr val="A9CBD6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197</c:v>
                </c:pt>
                <c:pt idx="1">
                  <c:v>154</c:v>
                </c:pt>
                <c:pt idx="2">
                  <c:v>96</c:v>
                </c:pt>
                <c:pt idx="3">
                  <c:v>68</c:v>
                </c:pt>
                <c:pt idx="4">
                  <c:v>28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Ponto Extra</c:v>
                </c:pt>
              </c:strCache>
            </c:strRef>
          </c:tx>
          <c:spPr>
            <a:solidFill>
              <a:srgbClr val="4A92AA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46</c:v>
                </c:pt>
                <c:pt idx="1">
                  <c:v>24</c:v>
                </c:pt>
                <c:pt idx="2">
                  <c:v>17</c:v>
                </c:pt>
                <c:pt idx="3">
                  <c:v>3</c:v>
                </c:pt>
                <c:pt idx="4">
                  <c:v>13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Outras Atividades</c:v>
                </c:pt>
              </c:strCache>
            </c:strRef>
          </c:tx>
          <c:spPr>
            <a:solidFill>
              <a:srgbClr val="CBE0E6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34</c:v>
                </c:pt>
                <c:pt idx="1">
                  <c:v>25</c:v>
                </c:pt>
                <c:pt idx="2">
                  <c:v>59</c:v>
                </c:pt>
                <c:pt idx="3">
                  <c:v>25</c:v>
                </c:pt>
                <c:pt idx="4">
                  <c:v>32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Saída</c:v>
                </c:pt>
              </c:strCache>
            </c:strRef>
          </c:tx>
          <c:spPr>
            <a:solidFill>
              <a:srgbClr val="97A9B4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14</c:v>
                </c:pt>
                <c:pt idx="1">
                  <c:v>6</c:v>
                </c:pt>
                <c:pt idx="2">
                  <c:v>11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title>
          <c:tx>
            <c:rich>
              <a:bodyPr/>
              <a:lstStyle/>
              <a:p>
                <a:r>
                  <a:rPr sz="1000">
                    <a:solidFill>
                      <a:srgbClr val="6D7887"/>
                    </a:solidFill>
                  </a:rPr>
                  <a:t>minutos por visita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 em 8h</c:v>
                </c:pt>
              </c:strCache>
            </c:strRef>
          </c:tx>
          <c:dPt>
            <c:idx val="0"/>
            <c:spPr>
              <a:solidFill>
                <a:srgbClr val="123A4D"/>
              </a:solidFill>
            </c:spPr>
          </c:dPt>
          <c:dPt>
            <c:idx val="1"/>
            <c:spPr>
              <a:solidFill>
                <a:srgbClr val="123A4D"/>
              </a:solidFill>
            </c:spPr>
          </c:dPt>
          <c:dPt>
            <c:idx val="2"/>
            <c:spPr>
              <a:solidFill>
                <a:srgbClr val="123A4D"/>
              </a:solidFill>
            </c:spPr>
          </c:dPt>
          <c:dPt>
            <c:idx val="3"/>
            <c:spPr>
              <a:solidFill>
                <a:srgbClr val="123A4D"/>
              </a:solidFill>
            </c:spPr>
          </c:dPt>
          <c:dPt>
            <c:idx val="4"/>
            <c:spPr>
              <a:solidFill>
                <a:srgbClr val="123A4D"/>
              </a:solidFill>
            </c:spPr>
          </c:dPt>
          <c:dPt>
            <c:idx val="5"/>
            <c:spPr>
              <a:solidFill>
                <a:srgbClr val="123A4D"/>
              </a:solidFill>
            </c:spPr>
          </c:dPt>
          <c:dPt>
            <c:idx val="6"/>
            <c:spPr>
              <a:solidFill>
                <a:srgbClr val="123A4D"/>
              </a:solidFill>
            </c:spPr>
          </c:dPt>
          <c:dPt>
            <c:idx val="7"/>
            <c:spPr>
              <a:solidFill>
                <a:srgbClr val="123A4D"/>
              </a:solidFill>
            </c:spPr>
          </c:dPt>
          <c:dPt>
            <c:idx val="8"/>
            <c:spPr>
              <a:solidFill>
                <a:srgbClr val="123A4D"/>
              </a:solidFill>
            </c:spPr>
          </c:dPt>
          <c:dPt>
            <c:idx val="9"/>
            <c:spPr>
              <a:solidFill>
                <a:srgbClr val="123A4D"/>
              </a:solidFill>
            </c:spPr>
          </c:dPt>
          <c:cat>
            <c:strRef>
              <c:f>Sheet1!$A$2:$A$11</c:f>
              <c:strCache>
                <c:ptCount val="10"/>
                <c:pt idx="0">
                  <c:v>Identificar pontos de atenção / rupturas</c:v>
                </c:pt>
                <c:pt idx="1">
                  <c:v>Chegada à loja (portaria/entrada)</c:v>
                </c:pt>
                <c:pt idx="2">
                  <c:v>Validar estoque virtual</c:v>
                </c:pt>
                <c:pt idx="3">
                  <c:v>Passar por todas as categorias puxando frent…</c:v>
                </c:pt>
                <c:pt idx="4">
                  <c:v>Deslocamento interno dentro da loja</c:v>
                </c:pt>
                <c:pt idx="5">
                  <c:v>Limpeza antes do abastecimento</c:v>
                </c:pt>
                <c:pt idx="6">
                  <c:v>Leitura de loja (checklist / auditoria)</c:v>
                </c:pt>
                <c:pt idx="7">
                  <c:v>Precificar todos os itens</c:v>
                </c:pt>
                <c:pt idx="8">
                  <c:v>Buscar itens faltantes no estoque</c:v>
                </c:pt>
                <c:pt idx="9">
                  <c:v>Abastecimento e organização (Layout/KBDs etc)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14.961822387533276</c:v>
                </c:pt>
                <c:pt idx="1">
                  <c:v>17.280406773298665</c:v>
                </c:pt>
                <c:pt idx="2">
                  <c:v>20.056047581666054</c:v>
                </c:pt>
                <c:pt idx="3">
                  <c:v>20.34193218846537</c:v>
                </c:pt>
                <c:pt idx="4">
                  <c:v>25.272107251467222</c:v>
                </c:pt>
                <c:pt idx="5">
                  <c:v>25.471060400060228</c:v>
                </c:pt>
                <c:pt idx="6">
                  <c:v>29.880636504591347</c:v>
                </c:pt>
                <c:pt idx="7">
                  <c:v>30.33673419511806</c:v>
                </c:pt>
                <c:pt idx="8">
                  <c:v>41.4097969734244</c:v>
                </c:pt>
                <c:pt idx="9">
                  <c:v>60.78918953970692</c:v>
                </c:pt>
              </c:numCache>
            </c:numRef>
          </c:val>
        </c:ser>
        <c:dLbls>
          <c:numFmt formatCode="0&quot; min&quot;" sourceLinked="0"/>
          <c:txPr>
            <a:bodyPr/>
            <a:lstStyle/>
            <a:p>
              <a:pPr>
                <a:defRPr sz="1100" b="1">
                  <a:solidFill>
                    <a:srgbClr val="14181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Mais rápida</c:v>
                </c:pt>
              </c:strCache>
            </c:strRef>
          </c:tx>
          <c:spPr>
            <a:solidFill>
              <a:srgbClr val="A9CBD6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175.0</c:v>
                </c:pt>
                <c:pt idx="1">
                  <c:v>119.0</c:v>
                </c:pt>
                <c:pt idx="2">
                  <c:v>180.0</c:v>
                </c:pt>
                <c:pt idx="3">
                  <c:v>124.0</c:v>
                </c:pt>
                <c:pt idx="4">
                  <c:v>52.0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Mediana</c:v>
                </c:pt>
              </c:strCache>
            </c:strRef>
          </c:tx>
          <c:spPr>
            <a:solidFill>
              <a:srgbClr val="2C7391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430.0</c:v>
                </c:pt>
                <c:pt idx="1">
                  <c:v>294.0</c:v>
                </c:pt>
                <c:pt idx="2">
                  <c:v>252.0</c:v>
                </c:pt>
                <c:pt idx="3">
                  <c:v>198.0</c:v>
                </c:pt>
                <c:pt idx="4">
                  <c:v>113.5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Mais lenta</c:v>
                </c:pt>
              </c:strCache>
            </c:strRef>
          </c:tx>
          <c:spPr>
            <a:solidFill>
              <a:srgbClr val="123A4D"/>
            </a:solidFill>
          </c:spPr>
          <c:cat>
            <c:strRef>
              <c:f>Sheet1!$A$2:$A$6</c:f>
              <c:strCache>
                <c:ptCount val="5"/>
                <c:pt idx="0">
                  <c:v>NMR</c:v>
                </c:pt>
                <c:pt idx="1">
                  <c:v>C&amp;C</c:v>
                </c:pt>
                <c:pt idx="2">
                  <c:v>GMR</c:v>
                </c:pt>
                <c:pt idx="3">
                  <c:v>HFS</c:v>
                </c:pt>
                <c:pt idx="4">
                  <c:v>DPP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546.0</c:v>
                </c:pt>
                <c:pt idx="1">
                  <c:v>525.0</c:v>
                </c:pt>
                <c:pt idx="2">
                  <c:v>614.0</c:v>
                </c:pt>
                <c:pt idx="3">
                  <c:v>363.0</c:v>
                </c:pt>
                <c:pt idx="4">
                  <c:v>354.0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14181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Projeção pelo tempo medido</c:v>
                </c:pt>
              </c:strCache>
            </c:strRef>
          </c:tx>
          <c:spPr>
            <a:solidFill>
              <a:srgbClr val="123A4D"/>
            </a:solidFill>
          </c:spPr>
          <c:cat>
            <c:strRef>
              <c:f>Sheet1!$A$2:$A$6</c:f>
              <c:strCache>
                <c:ptCount val="5"/>
                <c:pt idx="0">
                  <c:v>DPP</c:v>
                </c:pt>
                <c:pt idx="1">
                  <c:v>HFS</c:v>
                </c:pt>
                <c:pt idx="2">
                  <c:v>GMR</c:v>
                </c:pt>
                <c:pt idx="3">
                  <c:v>C&amp;C</c:v>
                </c:pt>
                <c:pt idx="4">
                  <c:v>NMR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</c:v>
                </c:pt>
                <c:pt idx="1">
                  <c:v>2.2</c:v>
                </c:pt>
                <c:pt idx="2">
                  <c:v>1.6</c:v>
                </c:pt>
                <c:pt idx="3">
                  <c:v>1.5</c:v>
                </c:pt>
                <c:pt idx="4">
                  <c:v>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Rota declarada pelo campo</c:v>
                </c:pt>
              </c:strCache>
            </c:strRef>
          </c:tx>
          <c:spPr>
            <a:solidFill>
              <a:srgbClr val="7DB0C1"/>
            </a:solidFill>
          </c:spPr>
          <c:cat>
            <c:strRef>
              <c:f>Sheet1!$A$2:$A$6</c:f>
              <c:strCache>
                <c:ptCount val="5"/>
                <c:pt idx="0">
                  <c:v>DPP</c:v>
                </c:pt>
                <c:pt idx="1">
                  <c:v>HFS</c:v>
                </c:pt>
                <c:pt idx="2">
                  <c:v>GMR</c:v>
                </c:pt>
                <c:pt idx="3">
                  <c:v>C&amp;C</c:v>
                </c:pt>
                <c:pt idx="4">
                  <c:v>NMR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4.0</c:v>
                </c:pt>
                <c:pt idx="1">
                  <c:v>2.0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4181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D7887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DB0C1"/>
                </a:solidFill>
                <a:latin typeface="Calibri"/>
              </a:rPr>
              <a:t>ESTUDO DE TEMPOS E MOVIMENTOS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Cambria"/>
              </a:rPr>
              <a:t>Como o promotor usa</a:t>
            </a: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Cambria"/>
              </a:rPr>
              <a:t>a jornada de 8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9CBD6"/>
                </a:solidFill>
                <a:latin typeface="Calibri"/>
              </a:rPr>
              <a:t>Diagnóstico por canal · Operação de merchandising P&amp;G /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DB0C1"/>
                </a:solidFill>
                <a:latin typeface="Calibri"/>
              </a:rPr>
              <a:t>84 visitas medidas  ·  47 promotores  ·  48 setores  ·  coleta de 11/08/2026 a 18/08/2026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O estudo em números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Cobertura completa: todos os setores selecionados enviaram medições.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10561320" cy="1737360"/>
          </a:xfrm>
          <a:prstGeom prst="roundRect">
            <a:avLst>
              <a:gd name="adj" fmla="val 5000"/>
            </a:avLst>
          </a:prstGeom>
          <a:solidFill>
            <a:srgbClr val="E3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3A4D"/>
                </a:solidFill>
                <a:latin typeface="Cambria"/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D7887"/>
                </a:solidFill>
                <a:latin typeface="Calibri"/>
              </a:rPr>
              <a:t>visitas medidas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528" y="239572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3A4D"/>
                </a:solidFill>
                <a:latin typeface="Cambria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31089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D7887"/>
                </a:solidFill>
                <a:latin typeface="Calibri"/>
              </a:rPr>
              <a:t>promotores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7216" y="239572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3A4D"/>
                </a:solidFill>
                <a:latin typeface="Cambria"/>
              </a:rPr>
              <a:t>48/48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6" y="31089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D7887"/>
                </a:solidFill>
                <a:latin typeface="Calibri"/>
              </a:rPr>
              <a:t>setores cobertos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239572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3A4D"/>
                </a:solidFill>
                <a:latin typeface="Cambria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4" y="31089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D7887"/>
                </a:solidFill>
                <a:latin typeface="Calibri"/>
              </a:rPr>
              <a:t>canais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08592" y="239572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3A4D"/>
                </a:solidFill>
                <a:latin typeface="Cambria"/>
              </a:rPr>
              <a:t>236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31089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D7887"/>
                </a:solidFill>
                <a:latin typeface="Calibri"/>
              </a:rPr>
              <a:t>visita mediana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561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23A4D"/>
                </a:solidFill>
                <a:latin typeface="Cambria"/>
              </a:rPr>
              <a:t>O que mais varia não é o promotor — é o canal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10561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Uma visita de DPP dura 127 minutos; uma de NMR, 423. São operações diferentes, com rotinas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diferentes, medidas com o mesmo instrumento. Por isso todo o diagnóstico é apresentado por canal: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uma média geral esconderia mais do que revela.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Base: 84 visitas de 47 promotores, 11/08/2026 a 18/08/2026.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Como o tempo foi medido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O método precisa lidar com atividades que acontecem ao mesmo tempo.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5074920" cy="3566160"/>
          </a:xfrm>
          <a:prstGeom prst="roundRect">
            <a:avLst>
              <a:gd name="adj" fmla="val 5000"/>
            </a:avLst>
          </a:prstGeom>
          <a:solidFill>
            <a:srgbClr val="FB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B85042"/>
                </a:solidFill>
                <a:latin typeface="Calibri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4434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O promotor atende duas ou três categorias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na mesma ida à gôndola e registra a mesma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janela de horário para cada uma.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Somar as durações declaradas infla o total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em cerca de 2,4 vezes — e os percentuais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passariam de 100%.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57400"/>
            <a:ext cx="5074920" cy="3566160"/>
          </a:xfrm>
          <a:prstGeom prst="roundRect">
            <a:avLst>
              <a:gd name="adj" fmla="val 5000"/>
            </a:avLst>
          </a:prstGeom>
          <a:solidFill>
            <a:srgbClr val="EE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6B4F"/>
                </a:solidFill>
                <a:latin typeface="Calibri"/>
              </a:rPr>
              <a:t>A SOLUÇÃO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788920"/>
            <a:ext cx="4434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O tempo é alocado minuto a minuto.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Em cada minuto da visita, o tempo é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dividido entre as atividades ativas nele.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Dois movimentos em paralelo levam metade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do crédito cada. A soma fecha exatamente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o tempo real dentro da loja.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Excluídos: horários invertidos e atividades acima de 4 horas. Envios repetidos consolidados mantendo a versão mais completa.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Menos da metade do tempo em loja agrega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Execução = abastecer, precificar, limpar e montar. O resto sustenta a execução, mas não é ela.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057400"/>
          <a:ext cx="59436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86600" y="214884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23A4D"/>
                </a:solidFill>
                <a:latin typeface="Calibri"/>
              </a:rPr>
              <a:t>EXECUÇÃO (AGREGA VALOR)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247802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4181D"/>
                </a:solidFill>
                <a:latin typeface="Calibri"/>
              </a:rPr>
              <a:t>3h16 de uma jornada de 8 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3054096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23A4D"/>
                </a:solidFill>
                <a:latin typeface="Calibri"/>
              </a:rPr>
              <a:t>APOIO E ANÁLISE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3383279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4181D"/>
                </a:solidFill>
                <a:latin typeface="Calibri"/>
              </a:rPr>
              <a:t>2h20 de uma jornada de 8 horas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395935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23A4D"/>
                </a:solidFill>
                <a:latin typeface="Calibri"/>
              </a:rPr>
              <a:t>DESLOCAMENTO E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428853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4181D"/>
                </a:solidFill>
                <a:latin typeface="Calibri"/>
              </a:rPr>
              <a:t>1h57 de uma jornada de 8 horas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486460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23A4D"/>
                </a:solidFill>
                <a:latin typeface="Calibri"/>
              </a:rPr>
              <a:t>ESPERA E BUROCRACIA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519379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4181D"/>
                </a:solidFill>
                <a:latin typeface="Calibri"/>
              </a:rPr>
              <a:t>0h25 de uma jornada de 8 horas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Percentuais sobre o tempo dentro da loja, média ponderada de todos os canais.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O canal define a rotina mais do que qualquer outro fator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Participação da execução em gôndola no tempo de visita, por canal.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103120"/>
          <a:ext cx="1056132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257800"/>
            <a:ext cx="10561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A causa não é ritmo de trabalho: é o número de lojas. O DPP faz 4 lojas por dia e paga 4 vezes o custo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fixo de chegar, se cadastrar e se localizar. C&amp;C e NMR fazem 1 — diluem esse custo em uma visita longa.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Canais com menos de 8 visitas (CLUB, LASA, PERFUMARIA) ficam fora deste gráfico.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A composição do tempo, canal a canal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Minutos médios por visita, por bloco de atividade.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057400"/>
          <a:ext cx="1056132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Ponto Natural é o maior bloco em todos os canais de amostra adequada.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Os movimentos que mais consomem a jornada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Os dez movimentos com maior peso, projetados em uma jornada de 8 horas.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057400"/>
          <a:ext cx="105613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Abastecimento e busca de itens no estoque somam 102 minutos da jornada.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Quase 2 horas por jornada andando e procurando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É a maior oportunidade isolada do estudo — e a mais acionável.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3200400" cy="2834640"/>
          </a:xfrm>
          <a:prstGeom prst="roundRect">
            <a:avLst>
              <a:gd name="adj" fmla="val 5000"/>
            </a:avLst>
          </a:prstGeom>
          <a:solidFill>
            <a:srgbClr val="12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Cambria"/>
              </a:rPr>
              <a:t>1h57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03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A9CBD6"/>
                </a:solidFill>
                <a:latin typeface="Calibri"/>
              </a:rPr>
              <a:t>por jornada de 8 horas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A9CBD6"/>
                </a:solidFill>
                <a:latin typeface="Calibri"/>
              </a:rPr>
              <a:t>em deslocamento e busca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1031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4181D"/>
                </a:solidFill>
                <a:latin typeface="Calibri"/>
              </a:rPr>
              <a:t>Buscar itens faltantes no estoque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21031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>
                <a:solidFill>
                  <a:srgbClr val="2C7391"/>
                </a:solidFill>
                <a:latin typeface="Calibri"/>
              </a:rPr>
              <a:t>41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67004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4181D"/>
                </a:solidFill>
                <a:latin typeface="Calibri"/>
              </a:rPr>
              <a:t>Deslocamento interno dentro da loja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267004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>
                <a:solidFill>
                  <a:srgbClr val="2C7391"/>
                </a:solidFill>
                <a:latin typeface="Calibri"/>
              </a:rPr>
              <a:t>25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36976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4181D"/>
                </a:solidFill>
                <a:latin typeface="Calibri"/>
              </a:rPr>
              <a:t>Chegada à loja (portaria/entrada)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323697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>
                <a:solidFill>
                  <a:srgbClr val="2C7391"/>
                </a:solidFill>
                <a:latin typeface="Calibri"/>
              </a:rPr>
              <a:t>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803904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4181D"/>
                </a:solidFill>
                <a:latin typeface="Calibri"/>
              </a:rPr>
              <a:t>Localizar produtos no estoque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3803904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>
                <a:solidFill>
                  <a:srgbClr val="2C7391"/>
                </a:solidFill>
                <a:latin typeface="Calibri"/>
              </a:rPr>
              <a:t>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3708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4181D"/>
                </a:solidFill>
                <a:latin typeface="Calibri"/>
              </a:rPr>
              <a:t>Localizar o setor / estoque / responsável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40" y="437083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>
                <a:solidFill>
                  <a:srgbClr val="2C7391"/>
                </a:solidFill>
                <a:latin typeface="Calibri"/>
              </a:rPr>
              <a:t>7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074920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Buscar item no estoque e andar dentro da loja não agregam valor ao shopper, mas são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consequência de layout, de ruptura e de onde o estoque fica. São endereçáveis.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Classificação: deslocamento, busca e localização de produtos, em todos os blocos.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A mesma tarefa leva tempos muito diferentes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Dispersão do tempo de visita dentro de cada canal — quanto maior, menor a padronização.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103120"/>
          <a:ext cx="1056132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303520"/>
            <a:ext cx="10561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No DPP, a visita mais lenta leva 6,8 vezes o tempo da mais rápida. Parte é porte de loja, mas a faixa é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larga demais para ser só isso — é onde um padrão de execução tem mais a ganhar.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Canais com amostra reduzida omitidos.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A rota que o tempo medido comporta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Quantas lojas cabem em 8 horas, segundo o tempo medido, contra a rota que o campo declara.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103120"/>
          <a:ext cx="1056132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212080"/>
            <a:ext cx="105613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As duas leituras convergem sem que o cálculo force isso — indício de que a cronometragem foi honesta.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4181D"/>
                </a:solidFill>
                <a:latin typeface="Calibri"/>
              </a:rPr>
              <a:t>Mas as duas ignoram o deslocamento: a rota real é mais curta do que a projeção sugere.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Projeção = 480 minutos ÷ tempo médio de visita. Não é meta operacional.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O trajeto entre lojas — primeira medição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Bloco incluído no formulário em 15/08, depois do início da coleta. Amostra ainda reduzida.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E3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23A4D"/>
                </a:solidFill>
                <a:latin typeface="Cambria"/>
              </a:rPr>
              <a:t>45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4181D"/>
                </a:solidFill>
                <a:latin typeface="Calibri"/>
              </a:rPr>
              <a:t>De casa até a</a:t>
            </a:r>
          </a:p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4181D"/>
                </a:solidFill>
                <a:latin typeface="Calibri"/>
              </a:rPr>
              <a:t>primeira loja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D7887"/>
                </a:solidFill>
                <a:latin typeface="Calibri"/>
              </a:rPr>
              <a:t>8 medições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E3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146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23A4D"/>
                </a:solidFill>
                <a:latin typeface="Cambria"/>
              </a:rPr>
              <a:t>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3756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4181D"/>
                </a:solidFill>
                <a:latin typeface="Calibri"/>
              </a:rPr>
              <a:t>Entre duas</a:t>
            </a:r>
          </a:p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4181D"/>
                </a:solidFill>
                <a:latin typeface="Calibri"/>
              </a:rPr>
              <a:t>lojas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0233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D7887"/>
                </a:solidFill>
                <a:latin typeface="Calibri"/>
              </a:rPr>
              <a:t>5 medições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14884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B85042"/>
                </a:solidFill>
                <a:latin typeface="Calibri"/>
              </a:rPr>
              <a:t>POR QUE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651760"/>
            <a:ext cx="34290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4181D"/>
                </a:solidFill>
                <a:latin typeface="Calibri"/>
              </a:rPr>
              <a:t>O estudo mede o tempo dentro da loja.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4181D"/>
                </a:solidFill>
                <a:latin typeface="Calibri"/>
              </a:rPr>
              <a:t>O trajeto fica de fora das projeções.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4181D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4181D"/>
                </a:solidFill>
                <a:latin typeface="Calibri"/>
              </a:rPr>
              <a:t>Com 14 medições, ainda é indício — mas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4181D"/>
                </a:solidFill>
                <a:latin typeface="Calibri"/>
              </a:rPr>
              <a:t>já mostra que o trajeto não é resíduo: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4181D"/>
                </a:solidFill>
                <a:latin typeface="Calibri"/>
              </a:rPr>
              <a:t>pesa numa rota de várias lojas.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A diferença entre os dois trajetos é o dado útil: o deslocamento de casa é um custo fixo do dia,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enquanto o trajeto entre lojas é o que se multiplica a cada loja a mais na rota.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Medições feitas por 5 promotores. Recomenda-se manter a coleta até estabilizar.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O que este estudo ainda não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Os limites são parte da entrega: sem eles, o número vira decisão errada.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61320" cy="932688"/>
          </a:xfrm>
          <a:prstGeom prst="roundRect">
            <a:avLst>
              <a:gd name="adj" fmla="val 5000"/>
            </a:avLst>
          </a:prstGeom>
          <a:solidFill>
            <a:srgbClr val="E3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042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23A4D"/>
                </a:solidFill>
                <a:latin typeface="Calibri"/>
              </a:rPr>
              <a:t>O trajeto entre lojas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276856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4181D"/>
                </a:solidFill>
                <a:latin typeface="Calibri"/>
              </a:rPr>
              <a:t>Apenas 14 medições. Nenhuma projeção de jornada aqui inclui deslocamento — a rota real é mais curta do que a projetada.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61320" cy="932688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3558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23A4D"/>
                </a:solidFill>
                <a:latin typeface="Calibri"/>
              </a:rPr>
              <a:t>Canais de amostra reduzida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328416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4181D"/>
                </a:solidFill>
                <a:latin typeface="Calibri"/>
              </a:rPr>
              <a:t>CLUB, LASA, PERFUMARIA têm menos de 8 visitas. São indício, não média: uma visita atípica move o número inteiro.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51960"/>
            <a:ext cx="10561320" cy="932688"/>
          </a:xfrm>
          <a:prstGeom prst="roundRect">
            <a:avLst>
              <a:gd name="adj" fmla="val 5000"/>
            </a:avLst>
          </a:prstGeom>
          <a:solidFill>
            <a:srgbClr val="E3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074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23A4D"/>
                </a:solidFill>
                <a:latin typeface="Calibri"/>
              </a:rPr>
              <a:t>Pausas e imprevistos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379976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4181D"/>
                </a:solidFill>
                <a:latin typeface="Calibri"/>
              </a:rPr>
              <a:t>Almoço, deslocamento a pé no shopping e espera fora do previsto não foram isolados na medição.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03520"/>
            <a:ext cx="10561320" cy="932688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4589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23A4D"/>
                </a:solidFill>
                <a:latin typeface="Calibri"/>
              </a:rPr>
              <a:t>Autodeclaração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431536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4181D"/>
                </a:solidFill>
                <a:latin typeface="Calibri"/>
              </a:rPr>
              <a:t>Cada promotor cronometrou a própria jornada. Não houve observador externo — o viés possível é de arredondamento, não de intenção.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Nenhum destes invalida os achados — todos limitam o quanto se pode extrapolar deles.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23A4D"/>
                </a:solidFill>
                <a:latin typeface="Cambria"/>
              </a:rPr>
              <a:t>Para onde olhar primeiro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D7887"/>
                </a:solidFill>
                <a:latin typeface="Calibri"/>
              </a:rPr>
              <a:t>Ordenado por tamanho da oportunidade e por facilidade de execução.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121408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23A4D"/>
                </a:solidFill>
                <a:latin typeface="Cambria"/>
              </a:rPr>
              <a:t>Atacar o tempo de busca no estoque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560320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4181D"/>
                </a:solidFill>
                <a:latin typeface="Calibri"/>
              </a:rPr>
              <a:t>Buscar item faltante é o 2º maior movimento da jornada. Endereçamento e separação prévia atacam direto.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163824"/>
            <a:ext cx="502920" cy="502920"/>
          </a:xfrm>
          <a:prstGeom prst="ellipse">
            <a:avLst/>
          </a:prstGeom>
          <a:solidFill>
            <a:srgbClr val="2C7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18211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23A4D"/>
                </a:solidFill>
                <a:latin typeface="Cambria"/>
              </a:rPr>
              <a:t>Padronizar onde a variação é maior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621024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4181D"/>
                </a:solidFill>
                <a:latin typeface="Calibri"/>
              </a:rPr>
              <a:t>A faixa entre a visita mais rápida e a mais lenta é ampla demais para ser só porte de loja. Um padrão por canal reduz a cauda.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224528"/>
            <a:ext cx="502920" cy="502920"/>
          </a:xfrm>
          <a:prstGeom prst="ellipse">
            <a:avLst/>
          </a:prstGeom>
          <a:solidFill>
            <a:srgbClr val="12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242816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23A4D"/>
                </a:solidFill>
                <a:latin typeface="Cambria"/>
              </a:rPr>
              <a:t>Tratar DPP como operação própria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681728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4181D"/>
                </a:solidFill>
                <a:latin typeface="Calibri"/>
              </a:rPr>
              <a:t>Com 4 lojas por dia, o custo fixo de entrada pesa 4 vezes. Reduzir fricção de acesso vale mais nele do que em qualquer outro canal.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285232"/>
            <a:ext cx="502920" cy="5029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3035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23A4D"/>
                </a:solidFill>
                <a:latin typeface="Cambria"/>
              </a:rPr>
              <a:t>Fechar a medição do deslocamento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74243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4181D"/>
                </a:solidFill>
                <a:latin typeface="Calibri"/>
              </a:rPr>
              <a:t>É o único bloco que falta para a jornada fechar de ponta a ponta. Manter a coleta até estabilizar a amostra.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447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D7887"/>
                </a:solidFill>
                <a:latin typeface="Calibri"/>
              </a:rPr>
              <a:t>As recomendações saem do que foi medido; o dimensionamento de ganho exige um piloto.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DB0C1"/>
                </a:solidFill>
                <a:latin typeface="Calibri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A base continua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CBE0E6"/>
                </a:solidFill>
                <a:latin typeface="Calibri"/>
              </a:rPr>
              <a:t>O aplicativo segue em campo e cada nova visita entra na mesma base. Os números deste deck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CBE0E6"/>
                </a:solidFill>
                <a:latin typeface="Calibri"/>
              </a:rPr>
              <a:t>saem direto dela: reprocessar a coleta atualiza o diagnóstico inteiro, sem retrabalho.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CBE0E6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CBE0E6"/>
                </a:solidFill>
                <a:latin typeface="Calibri"/>
              </a:rPr>
              <a:t>A prioridade agora é fechar a medição do deslocamento entre lojas — o único bloco que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CBE0E6"/>
                </a:solidFill>
                <a:latin typeface="Calibri"/>
              </a:rPr>
              <a:t>ainda falta para a jornada fechar de ponta a ponta.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DB0C1"/>
                </a:solidFill>
                <a:latin typeface="Calibri"/>
              </a:rPr>
              <a:t>Estudo de Tempos e Movimentos  ·  11/08/2026 a 18/08/2026  ·  84 visitas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